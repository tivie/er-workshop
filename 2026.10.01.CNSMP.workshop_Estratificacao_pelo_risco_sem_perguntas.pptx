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65" r:id="rId3"/>
    <p:sldId id="257" r:id="rId4"/>
    <p:sldId id="268" r:id="rId5"/>
    <p:sldId id="283" r:id="rId6"/>
    <p:sldId id="281" r:id="rId7"/>
    <p:sldId id="288" r:id="rId8"/>
    <p:sldId id="289" r:id="rId9"/>
    <p:sldId id="282" r:id="rId10"/>
    <p:sldId id="279" r:id="rId11"/>
    <p:sldId id="291" r:id="rId12"/>
    <p:sldId id="286" r:id="rId13"/>
    <p:sldId id="304" r:id="rId14"/>
    <p:sldId id="301" r:id="rId15"/>
    <p:sldId id="302" r:id="rId16"/>
    <p:sldId id="303" r:id="rId17"/>
    <p:sldId id="272" r:id="rId18"/>
    <p:sldId id="271" r:id="rId19"/>
    <p:sldId id="290" r:id="rId20"/>
    <p:sldId id="292" r:id="rId21"/>
    <p:sldId id="293" r:id="rId22"/>
    <p:sldId id="294" r:id="rId23"/>
    <p:sldId id="310" r:id="rId24"/>
    <p:sldId id="295" r:id="rId25"/>
    <p:sldId id="296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6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3516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3B36AE-CEA7-48B8-8E10-9966BA8D977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PT"/>
        </a:p>
      </dgm:t>
    </dgm:pt>
    <dgm:pt modelId="{744C4F9A-198F-4466-9498-F9ECA5831FF5}">
      <dgm:prSet phldrT="[Text]" phldr="0"/>
      <dgm:spPr/>
      <dgm:t>
        <a:bodyPr/>
        <a:lstStyle/>
        <a:p>
          <a:r>
            <a:rPr lang="en-US" dirty="0" err="1"/>
            <a:t>Complexidade</a:t>
          </a:r>
          <a:r>
            <a:rPr lang="en-US" dirty="0"/>
            <a:t> do </a:t>
          </a:r>
          <a:r>
            <a:rPr lang="en-US" dirty="0" err="1"/>
            <a:t>Utente</a:t>
          </a:r>
          <a:endParaRPr lang="pt-PT" dirty="0"/>
        </a:p>
      </dgm:t>
    </dgm:pt>
    <dgm:pt modelId="{050D1770-B38A-419D-A84C-5C0906544CD6}" type="sibTrans" cxnId="{7682EBF3-7B07-48E1-9D86-5178D4A0F53A}">
      <dgm:prSet/>
      <dgm:spPr/>
      <dgm:t>
        <a:bodyPr/>
        <a:lstStyle/>
        <a:p>
          <a:endParaRPr lang="pt-PT"/>
        </a:p>
      </dgm:t>
    </dgm:pt>
    <dgm:pt modelId="{75E62D63-D350-4E39-8D81-71B3472F41F4}" type="parTrans" cxnId="{7682EBF3-7B07-48E1-9D86-5178D4A0F53A}">
      <dgm:prSet/>
      <dgm:spPr/>
      <dgm:t>
        <a:bodyPr/>
        <a:lstStyle/>
        <a:p>
          <a:endParaRPr lang="pt-PT"/>
        </a:p>
      </dgm:t>
    </dgm:pt>
    <dgm:pt modelId="{551052BD-99CF-4506-859F-ED174A9734A8}">
      <dgm:prSet phldrT="[Text]" phldr="0"/>
      <dgm:spPr/>
      <dgm:t>
        <a:bodyPr/>
        <a:lstStyle/>
        <a:p>
          <a:r>
            <a:rPr lang="en-US" dirty="0" err="1"/>
            <a:t>Consumo</a:t>
          </a:r>
          <a:r>
            <a:rPr lang="en-US" dirty="0"/>
            <a:t> de Recursos</a:t>
          </a:r>
          <a:endParaRPr lang="pt-PT" dirty="0"/>
        </a:p>
      </dgm:t>
    </dgm:pt>
    <dgm:pt modelId="{3C2FB978-9CF5-472E-8D9A-1D0736FA3919}" type="sibTrans" cxnId="{48DB449E-157D-4064-8BCC-9C6EFF90F7FB}">
      <dgm:prSet/>
      <dgm:spPr/>
      <dgm:t>
        <a:bodyPr/>
        <a:lstStyle/>
        <a:p>
          <a:endParaRPr lang="pt-PT"/>
        </a:p>
      </dgm:t>
    </dgm:pt>
    <dgm:pt modelId="{D03FDCF2-6F2A-4711-A48C-A44EB4BB829F}" type="parTrans" cxnId="{48DB449E-157D-4064-8BCC-9C6EFF90F7FB}">
      <dgm:prSet/>
      <dgm:spPr/>
      <dgm:t>
        <a:bodyPr/>
        <a:lstStyle/>
        <a:p>
          <a:endParaRPr lang="pt-PT"/>
        </a:p>
      </dgm:t>
    </dgm:pt>
    <dgm:pt modelId="{9A329E65-8356-4294-AE31-F43D404A1E10}">
      <dgm:prSet phldrT="[Text]" phldr="0"/>
      <dgm:spPr/>
      <dgm:t>
        <a:bodyPr/>
        <a:lstStyle/>
        <a:p>
          <a:r>
            <a:rPr lang="en-US" dirty="0" err="1"/>
            <a:t>Eventos</a:t>
          </a:r>
          <a:r>
            <a:rPr lang="en-US" dirty="0"/>
            <a:t> </a:t>
          </a:r>
          <a:r>
            <a:rPr lang="en-US" dirty="0" err="1"/>
            <a:t>Adversos</a:t>
          </a:r>
          <a:endParaRPr lang="pt-PT" dirty="0"/>
        </a:p>
      </dgm:t>
    </dgm:pt>
    <dgm:pt modelId="{0794AC07-B475-4B4D-A5E8-864A87655EAE}" type="sibTrans" cxnId="{01BA9416-CC9F-49C5-8432-04EE28BFCFD2}">
      <dgm:prSet/>
      <dgm:spPr/>
      <dgm:t>
        <a:bodyPr/>
        <a:lstStyle/>
        <a:p>
          <a:endParaRPr lang="pt-PT"/>
        </a:p>
      </dgm:t>
    </dgm:pt>
    <dgm:pt modelId="{E72BF4FD-835F-405E-BC80-355E748F6CD9}" type="parTrans" cxnId="{01BA9416-CC9F-49C5-8432-04EE28BFCFD2}">
      <dgm:prSet/>
      <dgm:spPr/>
      <dgm:t>
        <a:bodyPr/>
        <a:lstStyle/>
        <a:p>
          <a:endParaRPr lang="pt-PT"/>
        </a:p>
      </dgm:t>
    </dgm:pt>
    <dgm:pt modelId="{5A88741A-14BA-468A-915F-2B00B5C2443D}">
      <dgm:prSet phldrT="[Text]" phldr="0"/>
      <dgm:spPr/>
      <dgm:t>
        <a:bodyPr/>
        <a:lstStyle/>
        <a:p>
          <a:r>
            <a:rPr lang="en-US" dirty="0" err="1"/>
            <a:t>Morbilidade</a:t>
          </a:r>
          <a:endParaRPr lang="pt-PT" dirty="0"/>
        </a:p>
      </dgm:t>
    </dgm:pt>
    <dgm:pt modelId="{24467A3F-E1F5-4080-88C9-FFEF7F8BEFA9}" type="sibTrans" cxnId="{ACB8E6B9-5462-4922-ACC8-DFF70F40EFB4}">
      <dgm:prSet/>
      <dgm:spPr/>
      <dgm:t>
        <a:bodyPr/>
        <a:lstStyle/>
        <a:p>
          <a:endParaRPr lang="pt-PT"/>
        </a:p>
      </dgm:t>
    </dgm:pt>
    <dgm:pt modelId="{354DFF3B-D966-45D5-B103-A7D835EB2258}" type="parTrans" cxnId="{ACB8E6B9-5462-4922-ACC8-DFF70F40EFB4}">
      <dgm:prSet/>
      <dgm:spPr/>
      <dgm:t>
        <a:bodyPr/>
        <a:lstStyle/>
        <a:p>
          <a:endParaRPr lang="pt-PT"/>
        </a:p>
      </dgm:t>
    </dgm:pt>
    <dgm:pt modelId="{22911DAC-6A51-408A-A1BD-9352504E3951}">
      <dgm:prSet phldrT="[Text]" phldr="0"/>
      <dgm:spPr/>
      <dgm:t>
        <a:bodyPr/>
        <a:lstStyle/>
        <a:p>
          <a:r>
            <a:rPr lang="en-US" dirty="0"/>
            <a:t>Mortalidade</a:t>
          </a:r>
          <a:endParaRPr lang="pt-PT" dirty="0"/>
        </a:p>
      </dgm:t>
    </dgm:pt>
    <dgm:pt modelId="{D4ABFFA9-DC69-4F94-80C7-E46D071CADC4}" type="sibTrans" cxnId="{2C54D47F-AFEB-4ADF-9DAE-72ECD03B6447}">
      <dgm:prSet/>
      <dgm:spPr/>
      <dgm:t>
        <a:bodyPr/>
        <a:lstStyle/>
        <a:p>
          <a:endParaRPr lang="pt-PT"/>
        </a:p>
      </dgm:t>
    </dgm:pt>
    <dgm:pt modelId="{B81D5A8E-B2D7-45D8-B3DE-D2084567625B}" type="parTrans" cxnId="{2C54D47F-AFEB-4ADF-9DAE-72ECD03B6447}">
      <dgm:prSet/>
      <dgm:spPr/>
      <dgm:t>
        <a:bodyPr/>
        <a:lstStyle/>
        <a:p>
          <a:endParaRPr lang="pt-PT"/>
        </a:p>
      </dgm:t>
    </dgm:pt>
    <dgm:pt modelId="{7123F0E0-5FEE-44FD-9D17-2263C023789D}" type="pres">
      <dgm:prSet presAssocID="{533B36AE-CEA7-48B8-8E10-9966BA8D9774}" presName="diagram" presStyleCnt="0">
        <dgm:presLayoutVars>
          <dgm:dir/>
          <dgm:resizeHandles val="exact"/>
        </dgm:presLayoutVars>
      </dgm:prSet>
      <dgm:spPr/>
    </dgm:pt>
    <dgm:pt modelId="{FECFEB83-6144-48AC-AA84-195E7DEBE623}" type="pres">
      <dgm:prSet presAssocID="{22911DAC-6A51-408A-A1BD-9352504E3951}" presName="node" presStyleLbl="node1" presStyleIdx="0" presStyleCnt="5">
        <dgm:presLayoutVars>
          <dgm:bulletEnabled val="1"/>
        </dgm:presLayoutVars>
      </dgm:prSet>
      <dgm:spPr/>
    </dgm:pt>
    <dgm:pt modelId="{E999C04F-64F9-44B4-B0CE-E588B840C8F4}" type="pres">
      <dgm:prSet presAssocID="{D4ABFFA9-DC69-4F94-80C7-E46D071CADC4}" presName="sibTrans" presStyleCnt="0"/>
      <dgm:spPr/>
    </dgm:pt>
    <dgm:pt modelId="{17A7E672-412E-46D5-8EF0-02F8872BFFA5}" type="pres">
      <dgm:prSet presAssocID="{5A88741A-14BA-468A-915F-2B00B5C2443D}" presName="node" presStyleLbl="node1" presStyleIdx="1" presStyleCnt="5">
        <dgm:presLayoutVars>
          <dgm:bulletEnabled val="1"/>
        </dgm:presLayoutVars>
      </dgm:prSet>
      <dgm:spPr/>
    </dgm:pt>
    <dgm:pt modelId="{C08565BB-D1E8-4364-88B9-655CAB34E93B}" type="pres">
      <dgm:prSet presAssocID="{24467A3F-E1F5-4080-88C9-FFEF7F8BEFA9}" presName="sibTrans" presStyleCnt="0"/>
      <dgm:spPr/>
    </dgm:pt>
    <dgm:pt modelId="{B77A2572-DF2C-4FA3-84EA-2AFF52FF6C40}" type="pres">
      <dgm:prSet presAssocID="{9A329E65-8356-4294-AE31-F43D404A1E10}" presName="node" presStyleLbl="node1" presStyleIdx="2" presStyleCnt="5">
        <dgm:presLayoutVars>
          <dgm:bulletEnabled val="1"/>
        </dgm:presLayoutVars>
      </dgm:prSet>
      <dgm:spPr/>
    </dgm:pt>
    <dgm:pt modelId="{2BE7F7AB-0C39-422A-B946-2F56A47A4587}" type="pres">
      <dgm:prSet presAssocID="{0794AC07-B475-4B4D-A5E8-864A87655EAE}" presName="sibTrans" presStyleCnt="0"/>
      <dgm:spPr/>
    </dgm:pt>
    <dgm:pt modelId="{789D1F3D-0359-4F55-81AA-CBFC4107F464}" type="pres">
      <dgm:prSet presAssocID="{551052BD-99CF-4506-859F-ED174A9734A8}" presName="node" presStyleLbl="node1" presStyleIdx="3" presStyleCnt="5">
        <dgm:presLayoutVars>
          <dgm:bulletEnabled val="1"/>
        </dgm:presLayoutVars>
      </dgm:prSet>
      <dgm:spPr/>
    </dgm:pt>
    <dgm:pt modelId="{4FEE3D88-7F05-46D0-9F81-4DCA4712BC88}" type="pres">
      <dgm:prSet presAssocID="{3C2FB978-9CF5-472E-8D9A-1D0736FA3919}" presName="sibTrans" presStyleCnt="0"/>
      <dgm:spPr/>
    </dgm:pt>
    <dgm:pt modelId="{153D8FCA-0B2C-4BA2-871C-D9DCEE25E941}" type="pres">
      <dgm:prSet presAssocID="{744C4F9A-198F-4466-9498-F9ECA5831FF5}" presName="node" presStyleLbl="node1" presStyleIdx="4" presStyleCnt="5">
        <dgm:presLayoutVars>
          <dgm:bulletEnabled val="1"/>
        </dgm:presLayoutVars>
      </dgm:prSet>
      <dgm:spPr/>
    </dgm:pt>
  </dgm:ptLst>
  <dgm:cxnLst>
    <dgm:cxn modelId="{61C7B60A-F380-4E24-9028-D54857B38A32}" type="presOf" srcId="{9A329E65-8356-4294-AE31-F43D404A1E10}" destId="{B77A2572-DF2C-4FA3-84EA-2AFF52FF6C40}" srcOrd="0" destOrd="0" presId="urn:microsoft.com/office/officeart/2005/8/layout/default"/>
    <dgm:cxn modelId="{01BA9416-CC9F-49C5-8432-04EE28BFCFD2}" srcId="{533B36AE-CEA7-48B8-8E10-9966BA8D9774}" destId="{9A329E65-8356-4294-AE31-F43D404A1E10}" srcOrd="2" destOrd="0" parTransId="{E72BF4FD-835F-405E-BC80-355E748F6CD9}" sibTransId="{0794AC07-B475-4B4D-A5E8-864A87655EAE}"/>
    <dgm:cxn modelId="{7348B33C-6B23-4C2E-AE01-B45ECAD30472}" type="presOf" srcId="{744C4F9A-198F-4466-9498-F9ECA5831FF5}" destId="{153D8FCA-0B2C-4BA2-871C-D9DCEE25E941}" srcOrd="0" destOrd="0" presId="urn:microsoft.com/office/officeart/2005/8/layout/default"/>
    <dgm:cxn modelId="{EAD5857C-B0E1-47AE-8CC9-DF81B41B2198}" type="presOf" srcId="{551052BD-99CF-4506-859F-ED174A9734A8}" destId="{789D1F3D-0359-4F55-81AA-CBFC4107F464}" srcOrd="0" destOrd="0" presId="urn:microsoft.com/office/officeart/2005/8/layout/default"/>
    <dgm:cxn modelId="{2C54D47F-AFEB-4ADF-9DAE-72ECD03B6447}" srcId="{533B36AE-CEA7-48B8-8E10-9966BA8D9774}" destId="{22911DAC-6A51-408A-A1BD-9352504E3951}" srcOrd="0" destOrd="0" parTransId="{B81D5A8E-B2D7-45D8-B3DE-D2084567625B}" sibTransId="{D4ABFFA9-DC69-4F94-80C7-E46D071CADC4}"/>
    <dgm:cxn modelId="{48DB449E-157D-4064-8BCC-9C6EFF90F7FB}" srcId="{533B36AE-CEA7-48B8-8E10-9966BA8D9774}" destId="{551052BD-99CF-4506-859F-ED174A9734A8}" srcOrd="3" destOrd="0" parTransId="{D03FDCF2-6F2A-4711-A48C-A44EB4BB829F}" sibTransId="{3C2FB978-9CF5-472E-8D9A-1D0736FA3919}"/>
    <dgm:cxn modelId="{ADD39CA0-41D1-487F-9013-84C4BA3EFFD6}" type="presOf" srcId="{533B36AE-CEA7-48B8-8E10-9966BA8D9774}" destId="{7123F0E0-5FEE-44FD-9D17-2263C023789D}" srcOrd="0" destOrd="0" presId="urn:microsoft.com/office/officeart/2005/8/layout/default"/>
    <dgm:cxn modelId="{ACB8E6B9-5462-4922-ACC8-DFF70F40EFB4}" srcId="{533B36AE-CEA7-48B8-8E10-9966BA8D9774}" destId="{5A88741A-14BA-468A-915F-2B00B5C2443D}" srcOrd="1" destOrd="0" parTransId="{354DFF3B-D966-45D5-B103-A7D835EB2258}" sibTransId="{24467A3F-E1F5-4080-88C9-FFEF7F8BEFA9}"/>
    <dgm:cxn modelId="{EEB7DFC3-E3AD-4E35-B6EE-0CD17B0A326D}" type="presOf" srcId="{22911DAC-6A51-408A-A1BD-9352504E3951}" destId="{FECFEB83-6144-48AC-AA84-195E7DEBE623}" srcOrd="0" destOrd="0" presId="urn:microsoft.com/office/officeart/2005/8/layout/default"/>
    <dgm:cxn modelId="{FEFFB6D3-E087-4798-9975-AFB248BFCE75}" type="presOf" srcId="{5A88741A-14BA-468A-915F-2B00B5C2443D}" destId="{17A7E672-412E-46D5-8EF0-02F8872BFFA5}" srcOrd="0" destOrd="0" presId="urn:microsoft.com/office/officeart/2005/8/layout/default"/>
    <dgm:cxn modelId="{7682EBF3-7B07-48E1-9D86-5178D4A0F53A}" srcId="{533B36AE-CEA7-48B8-8E10-9966BA8D9774}" destId="{744C4F9A-198F-4466-9498-F9ECA5831FF5}" srcOrd="4" destOrd="0" parTransId="{75E62D63-D350-4E39-8D81-71B3472F41F4}" sibTransId="{050D1770-B38A-419D-A84C-5C0906544CD6}"/>
    <dgm:cxn modelId="{D047FA41-CFBC-423A-94D1-6FDC88BF5773}" type="presParOf" srcId="{7123F0E0-5FEE-44FD-9D17-2263C023789D}" destId="{FECFEB83-6144-48AC-AA84-195E7DEBE623}" srcOrd="0" destOrd="0" presId="urn:microsoft.com/office/officeart/2005/8/layout/default"/>
    <dgm:cxn modelId="{AA245B15-ED07-4268-830A-3F4902E9ED3A}" type="presParOf" srcId="{7123F0E0-5FEE-44FD-9D17-2263C023789D}" destId="{E999C04F-64F9-44B4-B0CE-E588B840C8F4}" srcOrd="1" destOrd="0" presId="urn:microsoft.com/office/officeart/2005/8/layout/default"/>
    <dgm:cxn modelId="{C4A07CAA-26DE-4171-A3C2-DC914F1095DD}" type="presParOf" srcId="{7123F0E0-5FEE-44FD-9D17-2263C023789D}" destId="{17A7E672-412E-46D5-8EF0-02F8872BFFA5}" srcOrd="2" destOrd="0" presId="urn:microsoft.com/office/officeart/2005/8/layout/default"/>
    <dgm:cxn modelId="{8A43CB15-3F58-4B6B-93A0-AFCA558E63C6}" type="presParOf" srcId="{7123F0E0-5FEE-44FD-9D17-2263C023789D}" destId="{C08565BB-D1E8-4364-88B9-655CAB34E93B}" srcOrd="3" destOrd="0" presId="urn:microsoft.com/office/officeart/2005/8/layout/default"/>
    <dgm:cxn modelId="{16513C76-CBB0-42D0-8D16-48C744D00890}" type="presParOf" srcId="{7123F0E0-5FEE-44FD-9D17-2263C023789D}" destId="{B77A2572-DF2C-4FA3-84EA-2AFF52FF6C40}" srcOrd="4" destOrd="0" presId="urn:microsoft.com/office/officeart/2005/8/layout/default"/>
    <dgm:cxn modelId="{2A57617D-571A-4ECC-B6F5-691E391BE78B}" type="presParOf" srcId="{7123F0E0-5FEE-44FD-9D17-2263C023789D}" destId="{2BE7F7AB-0C39-422A-B946-2F56A47A4587}" srcOrd="5" destOrd="0" presId="urn:microsoft.com/office/officeart/2005/8/layout/default"/>
    <dgm:cxn modelId="{5A997E80-939E-40D1-B1FF-49BF1E93FE7D}" type="presParOf" srcId="{7123F0E0-5FEE-44FD-9D17-2263C023789D}" destId="{789D1F3D-0359-4F55-81AA-CBFC4107F464}" srcOrd="6" destOrd="0" presId="urn:microsoft.com/office/officeart/2005/8/layout/default"/>
    <dgm:cxn modelId="{15076455-0D53-4869-BE2F-6049AE2638CE}" type="presParOf" srcId="{7123F0E0-5FEE-44FD-9D17-2263C023789D}" destId="{4FEE3D88-7F05-46D0-9F81-4DCA4712BC88}" srcOrd="7" destOrd="0" presId="urn:microsoft.com/office/officeart/2005/8/layout/default"/>
    <dgm:cxn modelId="{29DB87D7-56E0-47AB-8F59-B06562193C0B}" type="presParOf" srcId="{7123F0E0-5FEE-44FD-9D17-2263C023789D}" destId="{153D8FCA-0B2C-4BA2-871C-D9DCEE25E941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CFEB83-6144-48AC-AA84-195E7DEBE623}">
      <dsp:nvSpPr>
        <dsp:cNvPr id="0" name=""/>
        <dsp:cNvSpPr/>
      </dsp:nvSpPr>
      <dsp:spPr>
        <a:xfrm>
          <a:off x="0" y="93162"/>
          <a:ext cx="3312375" cy="19874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Mortalidade</a:t>
          </a:r>
          <a:endParaRPr lang="pt-PT" sz="3400" kern="1200" dirty="0"/>
        </a:p>
      </dsp:txBody>
      <dsp:txXfrm>
        <a:off x="0" y="93162"/>
        <a:ext cx="3312375" cy="1987425"/>
      </dsp:txXfrm>
    </dsp:sp>
    <dsp:sp modelId="{17A7E672-412E-46D5-8EF0-02F8872BFFA5}">
      <dsp:nvSpPr>
        <dsp:cNvPr id="0" name=""/>
        <dsp:cNvSpPr/>
      </dsp:nvSpPr>
      <dsp:spPr>
        <a:xfrm>
          <a:off x="3643612" y="93162"/>
          <a:ext cx="3312375" cy="19874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Morbilidade</a:t>
          </a:r>
          <a:endParaRPr lang="pt-PT" sz="3400" kern="1200" dirty="0"/>
        </a:p>
      </dsp:txBody>
      <dsp:txXfrm>
        <a:off x="3643612" y="93162"/>
        <a:ext cx="3312375" cy="1987425"/>
      </dsp:txXfrm>
    </dsp:sp>
    <dsp:sp modelId="{B77A2572-DF2C-4FA3-84EA-2AFF52FF6C40}">
      <dsp:nvSpPr>
        <dsp:cNvPr id="0" name=""/>
        <dsp:cNvSpPr/>
      </dsp:nvSpPr>
      <dsp:spPr>
        <a:xfrm>
          <a:off x="7287225" y="93162"/>
          <a:ext cx="3312375" cy="19874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Eventos</a:t>
          </a:r>
          <a:r>
            <a:rPr lang="en-US" sz="3400" kern="1200" dirty="0"/>
            <a:t> </a:t>
          </a:r>
          <a:r>
            <a:rPr lang="en-US" sz="3400" kern="1200" dirty="0" err="1"/>
            <a:t>Adversos</a:t>
          </a:r>
          <a:endParaRPr lang="pt-PT" sz="3400" kern="1200" dirty="0"/>
        </a:p>
      </dsp:txBody>
      <dsp:txXfrm>
        <a:off x="7287225" y="93162"/>
        <a:ext cx="3312375" cy="1987425"/>
      </dsp:txXfrm>
    </dsp:sp>
    <dsp:sp modelId="{789D1F3D-0359-4F55-81AA-CBFC4107F464}">
      <dsp:nvSpPr>
        <dsp:cNvPr id="0" name=""/>
        <dsp:cNvSpPr/>
      </dsp:nvSpPr>
      <dsp:spPr>
        <a:xfrm>
          <a:off x="1821806" y="2411825"/>
          <a:ext cx="3312375" cy="19874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Consumo</a:t>
          </a:r>
          <a:r>
            <a:rPr lang="en-US" sz="3400" kern="1200" dirty="0"/>
            <a:t> de Recursos</a:t>
          </a:r>
          <a:endParaRPr lang="pt-PT" sz="3400" kern="1200" dirty="0"/>
        </a:p>
      </dsp:txBody>
      <dsp:txXfrm>
        <a:off x="1821806" y="2411825"/>
        <a:ext cx="3312375" cy="1987425"/>
      </dsp:txXfrm>
    </dsp:sp>
    <dsp:sp modelId="{153D8FCA-0B2C-4BA2-871C-D9DCEE25E941}">
      <dsp:nvSpPr>
        <dsp:cNvPr id="0" name=""/>
        <dsp:cNvSpPr/>
      </dsp:nvSpPr>
      <dsp:spPr>
        <a:xfrm>
          <a:off x="5465419" y="2411825"/>
          <a:ext cx="3312375" cy="19874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 err="1"/>
            <a:t>Complexidade</a:t>
          </a:r>
          <a:r>
            <a:rPr lang="en-US" sz="3400" kern="1200" dirty="0"/>
            <a:t> do </a:t>
          </a:r>
          <a:r>
            <a:rPr lang="en-US" sz="3400" kern="1200" dirty="0" err="1"/>
            <a:t>Utente</a:t>
          </a:r>
          <a:endParaRPr lang="pt-PT" sz="3400" kern="1200" dirty="0"/>
        </a:p>
      </dsp:txBody>
      <dsp:txXfrm>
        <a:off x="5465419" y="2411825"/>
        <a:ext cx="3312375" cy="19874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738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Fontes: Despacho n.º 12986/2023 (p.1–2); Circular Normativa n.º 4/2024/ACSS (p.7); Estratégia para a Estratificação da População pelo Risco, ACSS (p.6, p.18); Ribeiro et al., Estratificação da população pelo risco em Portugal: desafios e perspetivas para 2024, revista GH (p.1–4); PÚBLICO, SNS: 930 mil dos portugueses mais doentes somam 41% dos gastos (p.2, fonte jornalística). Limitações: as fontes não datam os modelos de capitação das ULS anteriores a 2024 (a CN 4/2024, p.7, apenas refere que existiram) nem descrevem a evolução do financiamento hospitalar para além da introdução dos GDH em 1989; a data do estudo comparativo de ferramentas (8 ULS, ISPUP) não é indicada.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331720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786384" y="2194560"/>
            <a:ext cx="108383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WORKSHOP · ESTRATIFICAÇÃO DA POPULAÇÃO PELO RISCO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66928" y="2606040"/>
            <a:ext cx="11057839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Título da apresentação</a:t>
            </a:r>
            <a:endParaRPr lang="en-US" sz="46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566928" y="4160520"/>
            <a:ext cx="8771839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90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90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Subtítulo ou uma frase de enquadramento.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566928" y="62636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VII CNMSP · </a:t>
            </a:r>
            <a:r>
              <a:rPr lang="en-US" sz="1050" dirty="0" err="1">
                <a:solidFill>
                  <a:schemeClr val="accent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Espinho</a:t>
            </a:r>
            <a:r>
              <a:rPr lang="en-US" sz="1050" dirty="0">
                <a:solidFill>
                  <a:schemeClr val="accent4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· 2026.10.01</a:t>
            </a:r>
            <a:endParaRPr lang="en-US" sz="10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ÇÃ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786384" y="3291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SECÇÃO</a:t>
            </a:r>
            <a:endParaRPr lang="en-US" sz="1100" dirty="0"/>
          </a:p>
        </p:txBody>
      </p:sp>
      <p:sp>
        <p:nvSpPr>
          <p:cNvPr id="4" name="Text 2"/>
          <p:cNvSpPr>
            <a:spLocks noGrp="1"/>
          </p:cNvSpPr>
          <p:nvPr>
            <p:ph type="body" idx="102" hasCustomPrompt="1"/>
          </p:nvPr>
        </p:nvSpPr>
        <p:spPr>
          <a:xfrm>
            <a:off x="539496" y="2194560"/>
            <a:ext cx="3657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9200" b="1" dirty="0">
                <a:solidFill>
                  <a:schemeClr val="accent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9200" b="1" dirty="0">
                <a:solidFill>
                  <a:schemeClr val="accent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9200" dirty="0"/>
          </a:p>
        </p:txBody>
      </p:sp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0"/>
            <a:ext cx="9686239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Título da secção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+ CONTEÚD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786384" y="329184"/>
            <a:ext cx="108383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ESTRATIFICAÇÃO PELO RISCO</a:t>
            </a:r>
            <a:endParaRPr lang="en-US" sz="11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66928" y="822960"/>
            <a:ext cx="11057839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Título do slide</a:t>
            </a:r>
            <a:endParaRPr lang="en-US" sz="32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566928" y="1783080"/>
            <a:ext cx="11057839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Conteúdo em texto ou tópicos.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UAS COLUNA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786384" y="329184"/>
            <a:ext cx="108383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ESTRATIFICAÇÃO PELO RISCO</a:t>
            </a:r>
            <a:endParaRPr lang="en-US" sz="11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66928" y="822960"/>
            <a:ext cx="11057839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Título do slide</a:t>
            </a:r>
            <a:endParaRPr lang="en-US" sz="32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566928" y="1783080"/>
            <a:ext cx="53003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b="1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00" b="1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Coluna da esquerda</a:t>
            </a:r>
            <a:endParaRPr lang="en-US" sz="16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566928" y="2286000"/>
            <a:ext cx="5300320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Conteúdo da coluna esquerda.</a:t>
            </a:r>
            <a:endParaRPr lang="en-US" sz="1500" dirty="0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6324448" y="1783080"/>
            <a:ext cx="53003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b="1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600" b="1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Coluna da direita</a:t>
            </a:r>
            <a:endParaRPr lang="en-US" sz="1600" dirty="0"/>
          </a:p>
        </p:txBody>
      </p:sp>
      <p:sp>
        <p:nvSpPr>
          <p:cNvPr id="8" name="Text 2"/>
          <p:cNvSpPr>
            <a:spLocks noGrp="1"/>
          </p:cNvSpPr>
          <p:nvPr>
            <p:ph type="body" idx="106" hasCustomPrompt="1"/>
          </p:nvPr>
        </p:nvSpPr>
        <p:spPr>
          <a:xfrm>
            <a:off x="6324448" y="2286000"/>
            <a:ext cx="5300320" cy="3749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Conteúdo da coluna direita.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S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786384" y="329184"/>
            <a:ext cx="108383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ESTRATIFICAÇÃO PELO RISCO</a:t>
            </a:r>
            <a:endParaRPr lang="en-US" sz="11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Título do slide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QU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786384" y="329184"/>
            <a:ext cx="108383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ESTRATIFICAÇÃO PELO RISCO</a:t>
            </a:r>
            <a:endParaRPr lang="en-US" sz="11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66928" y="822960"/>
            <a:ext cx="11057839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Título do slide</a:t>
            </a:r>
            <a:endParaRPr lang="en-US" sz="3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521208" y="2103120"/>
            <a:ext cx="576072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0" b="1" dirty="0">
                <a:solidFill>
                  <a:schemeClr val="accent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1000" b="1" dirty="0">
                <a:solidFill>
                  <a:schemeClr val="accent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63%</a:t>
            </a:r>
            <a:endParaRPr lang="en-US" sz="11000" dirty="0"/>
          </a:p>
        </p:txBody>
      </p:sp>
      <p:sp>
        <p:nvSpPr>
          <p:cNvPr id="6" name="Text 2"/>
          <p:cNvSpPr>
            <a:spLocks noGrp="1"/>
          </p:cNvSpPr>
          <p:nvPr>
            <p:ph type="body" idx="104" hasCustomPrompt="1"/>
          </p:nvPr>
        </p:nvSpPr>
        <p:spPr>
          <a:xfrm>
            <a:off x="566928" y="4160520"/>
            <a:ext cx="5760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Legenda do indicador</a:t>
            </a:r>
            <a:endParaRPr lang="en-US" sz="1800" dirty="0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6766560" y="2286000"/>
            <a:ext cx="4846320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50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50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Texto de apoio ao indicador em destaque.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ÕE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786384" y="329184"/>
            <a:ext cx="108383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ESTRATIFICAÇÃO PELO RISCO</a:t>
            </a:r>
            <a:endParaRPr lang="en-US" sz="11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66928" y="822960"/>
            <a:ext cx="11057839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Título do slide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66928" y="1874520"/>
            <a:ext cx="3442106" cy="4023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38100" dir="5400000" algn="bl" rotWithShape="0">
              <a:srgbClr val="9FB2AD">
                <a:alpha val="45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Shape 3"/>
          <p:cNvSpPr/>
          <p:nvPr/>
        </p:nvSpPr>
        <p:spPr>
          <a:xfrm>
            <a:off x="841248" y="2167128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Shape 4"/>
          <p:cNvSpPr/>
          <p:nvPr/>
        </p:nvSpPr>
        <p:spPr>
          <a:xfrm>
            <a:off x="4374794" y="1874520"/>
            <a:ext cx="3442106" cy="4023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38100" dir="5400000" algn="bl" rotWithShape="0">
              <a:srgbClr val="9FB2AD">
                <a:alpha val="45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Shape 5"/>
          <p:cNvSpPr/>
          <p:nvPr/>
        </p:nvSpPr>
        <p:spPr>
          <a:xfrm>
            <a:off x="4649114" y="2167128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Shape 6"/>
          <p:cNvSpPr/>
          <p:nvPr/>
        </p:nvSpPr>
        <p:spPr>
          <a:xfrm>
            <a:off x="8182661" y="1874520"/>
            <a:ext cx="3442106" cy="402336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blurRad="101600" dist="38100" dir="5400000" algn="bl" rotWithShape="0">
              <a:srgbClr val="9FB2AD">
                <a:alpha val="45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" name="Shape 7"/>
          <p:cNvSpPr/>
          <p:nvPr/>
        </p:nvSpPr>
        <p:spPr>
          <a:xfrm>
            <a:off x="8456981" y="2167128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1" name="Text 8"/>
          <p:cNvSpPr>
            <a:spLocks noGrp="1"/>
          </p:cNvSpPr>
          <p:nvPr>
            <p:ph type="body" idx="109" hasCustomPrompt="1"/>
          </p:nvPr>
        </p:nvSpPr>
        <p:spPr>
          <a:xfrm>
            <a:off x="841248" y="2441448"/>
            <a:ext cx="2893466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Título 1</a:t>
            </a:r>
            <a:endParaRPr lang="en-US" sz="1800" dirty="0"/>
          </a:p>
        </p:txBody>
      </p:sp>
      <p:sp>
        <p:nvSpPr>
          <p:cNvPr id="12" name="Text 8"/>
          <p:cNvSpPr>
            <a:spLocks noGrp="1"/>
          </p:cNvSpPr>
          <p:nvPr>
            <p:ph type="body" idx="110" hasCustomPrompt="1"/>
          </p:nvPr>
        </p:nvSpPr>
        <p:spPr>
          <a:xfrm>
            <a:off x="841248" y="3246120"/>
            <a:ext cx="2893466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5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5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Descrição do cartão 1.</a:t>
            </a:r>
            <a:endParaRPr lang="en-US" sz="1350" dirty="0"/>
          </a:p>
        </p:txBody>
      </p:sp>
      <p:sp>
        <p:nvSpPr>
          <p:cNvPr id="13" name="Text 8"/>
          <p:cNvSpPr>
            <a:spLocks noGrp="1"/>
          </p:cNvSpPr>
          <p:nvPr>
            <p:ph type="body" idx="111" hasCustomPrompt="1"/>
          </p:nvPr>
        </p:nvSpPr>
        <p:spPr>
          <a:xfrm>
            <a:off x="4649114" y="2441448"/>
            <a:ext cx="2893466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Título 2</a:t>
            </a:r>
            <a:endParaRPr lang="en-US" sz="1800" dirty="0"/>
          </a:p>
        </p:txBody>
      </p:sp>
      <p:sp>
        <p:nvSpPr>
          <p:cNvPr id="14" name="Text 8"/>
          <p:cNvSpPr>
            <a:spLocks noGrp="1"/>
          </p:cNvSpPr>
          <p:nvPr>
            <p:ph type="body" idx="112" hasCustomPrompt="1"/>
          </p:nvPr>
        </p:nvSpPr>
        <p:spPr>
          <a:xfrm>
            <a:off x="4649114" y="3246120"/>
            <a:ext cx="2893466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5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5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Descrição do cartão 2.</a:t>
            </a:r>
            <a:endParaRPr lang="en-US" sz="1350" dirty="0"/>
          </a:p>
        </p:txBody>
      </p:sp>
      <p:sp>
        <p:nvSpPr>
          <p:cNvPr id="15" name="Text 8"/>
          <p:cNvSpPr>
            <a:spLocks noGrp="1"/>
          </p:cNvSpPr>
          <p:nvPr>
            <p:ph type="body" idx="113" hasCustomPrompt="1"/>
          </p:nvPr>
        </p:nvSpPr>
        <p:spPr>
          <a:xfrm>
            <a:off x="8456981" y="2441448"/>
            <a:ext cx="2893466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8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Título 3</a:t>
            </a:r>
            <a:endParaRPr lang="en-US" sz="1800" dirty="0"/>
          </a:p>
        </p:txBody>
      </p:sp>
      <p:sp>
        <p:nvSpPr>
          <p:cNvPr id="16" name="Text 8"/>
          <p:cNvSpPr>
            <a:spLocks noGrp="1"/>
          </p:cNvSpPr>
          <p:nvPr>
            <p:ph type="body" idx="114" hasCustomPrompt="1"/>
          </p:nvPr>
        </p:nvSpPr>
        <p:spPr>
          <a:xfrm>
            <a:off x="8456981" y="3246120"/>
            <a:ext cx="2893466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35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35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Descrição do cartão 3.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786384" y="3291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ESTRATIFICAÇÃO PELO RISCO</a:t>
            </a:r>
            <a:endParaRPr lang="en-US" sz="11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66928" y="1280160"/>
            <a:ext cx="11057839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Obrigado</a:t>
            </a:r>
            <a:endParaRPr lang="en-US" sz="34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566928" y="2468880"/>
            <a:ext cx="11057839" cy="3291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50" dirty="0">
                <a:solidFill>
                  <a:schemeClr val="bg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defRPr>
            </a:lvl1pPr>
          </a:lstStyle>
          <a:p>
            <a:pPr marL="0" indent="0" algn="l">
              <a:buNone/>
            </a:pPr>
            <a:r>
              <a:rPr lang="en-US" sz="1450" dirty="0">
                <a:solidFill>
                  <a:schemeClr val="bg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Contactos, fontes ou próximos passos.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 BRANC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118872" cy="118872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786384" y="329184"/>
            <a:ext cx="108383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ESTRATIFICAÇÃO PELO RISCO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66928" y="2606040"/>
            <a:ext cx="672824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  <a:latin typeface="+mj-lt"/>
                <a:ea typeface="Bricolage Grotesque" pitchFamily="34" charset="-122"/>
                <a:cs typeface="Bricolage Grotesque" pitchFamily="34" charset="-120"/>
              </a:rPr>
              <a:t>Do registo clínico ao indicador por utente</a:t>
            </a:r>
            <a:endParaRPr lang="en-US" sz="4600" dirty="0">
              <a:latin typeface="+mj-lt"/>
            </a:endParaRPr>
          </a:p>
        </p:txBody>
      </p:sp>
      <p:sp>
        <p:nvSpPr>
          <p:cNvPr id="3" name="Text 2"/>
          <p:cNvSpPr>
            <a:spLocks noGrp="1"/>
          </p:cNvSpPr>
          <p:nvPr>
            <p:ph type="body" idx="103" hasCustomPrompt="1"/>
          </p:nvPr>
        </p:nvSpPr>
        <p:spPr>
          <a:xfrm>
            <a:off x="566928" y="4160520"/>
            <a:ext cx="8771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 processo de estratificação pelo risco </a:t>
            </a:r>
            <a:r>
              <a:rPr lang="en-US" sz="1900" dirty="0" err="1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em</a:t>
            </a:r>
            <a:r>
              <a:rPr lang="en-US" sz="1900" dirty="0">
                <a:solidFill>
                  <a:schemeClr val="tx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 Portugal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96624C02-06A3-C722-0741-5DCDDAF520D8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pt-PT" dirty="0"/>
              <a:t>Estrutura do Workshop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DE0602F9-5564-8A5E-72D3-7D8AE01161E3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sz="2400" dirty="0" err="1"/>
              <a:t>Introdução</a:t>
            </a:r>
            <a:r>
              <a:rPr lang="en-US" sz="2400" dirty="0"/>
              <a:t> </a:t>
            </a:r>
            <a:r>
              <a:rPr lang="en-US" sz="2400" dirty="0" err="1"/>
              <a:t>teórica</a:t>
            </a: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i="1" dirty="0"/>
              <a:t>Rapid-fire questions </a:t>
            </a:r>
            <a:r>
              <a:rPr lang="en-US" sz="2400" dirty="0"/>
              <a:t>para </a:t>
            </a:r>
            <a:r>
              <a:rPr lang="en-US" sz="2400" dirty="0" err="1"/>
              <a:t>discussão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grupo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3079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39496" y="21945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200" b="1" dirty="0">
                <a:solidFill>
                  <a:schemeClr val="accent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9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66928" y="3657600"/>
            <a:ext cx="968623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 err="1">
                <a:solidFill>
                  <a:schemeClr val="bg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Enquadramento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8F607EC-DEA3-3A00-4DAA-495AF5452781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pt-PT" dirty="0">
                <a:latin typeface="+mj-lt"/>
              </a:rPr>
              <a:t>O que é a Estratificação pelo Risco?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E1F3F277-BEBC-59E2-ABAA-9B4077D554F7}"/>
              </a:ext>
            </a:extLst>
          </p:cNvPr>
          <p:cNvSpPr>
            <a:spLocks noGrp="1"/>
          </p:cNvSpPr>
          <p:nvPr>
            <p:ph type="body" idx="103"/>
          </p:nvPr>
        </p:nvSpPr>
        <p:spPr>
          <a:xfrm>
            <a:off x="566928" y="1783080"/>
            <a:ext cx="6458617" cy="4297680"/>
          </a:xfrm>
        </p:spPr>
        <p:txBody>
          <a:bodyPr/>
          <a:lstStyle/>
          <a:p>
            <a:endParaRPr lang="pt-PT" sz="2400" dirty="0"/>
          </a:p>
          <a:p>
            <a:endParaRPr lang="pt-PT" sz="2400" dirty="0"/>
          </a:p>
          <a:p>
            <a:r>
              <a:rPr lang="pt-PT" sz="2400" dirty="0"/>
              <a:t>“A estratificação pelo risco é uma estratégia de gestão da saúde populacional que categoriza os utentes com base nos seus riscos de saúde e nas necessidades previstas de cuidados” </a:t>
            </a:r>
          </a:p>
          <a:p>
            <a:r>
              <a:rPr lang="pt-PT" i="1" dirty="0"/>
              <a:t>Consenso de peritos, BMC </a:t>
            </a:r>
            <a:r>
              <a:rPr lang="pt-PT" i="1" dirty="0" err="1"/>
              <a:t>Primary</a:t>
            </a:r>
            <a:r>
              <a:rPr lang="pt-PT" i="1" dirty="0"/>
              <a:t> </a:t>
            </a:r>
            <a:r>
              <a:rPr lang="pt-PT" i="1" dirty="0" err="1"/>
              <a:t>Care</a:t>
            </a:r>
            <a:r>
              <a:rPr lang="pt-PT" i="1" dirty="0"/>
              <a:t> (2025).</a:t>
            </a:r>
          </a:p>
          <a:p>
            <a:endParaRPr lang="pt-PT" i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129150-D101-3924-5085-89F386F39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184" y="2168150"/>
            <a:ext cx="3429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111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>
                <a:latin typeface="Bricolage Grotesque"/>
              </a:rPr>
              <a:t>Do episódio à história do doente</a:t>
            </a:r>
          </a:p>
        </p:txBody>
      </p:sp>
      <p:sp>
        <p:nvSpPr>
          <p:cNvPr id="3" name="Oval 2"/>
          <p:cNvSpPr/>
          <p:nvPr/>
        </p:nvSpPr>
        <p:spPr>
          <a:xfrm>
            <a:off x="1600200" y="2697479"/>
            <a:ext cx="365760" cy="365760"/>
          </a:xfrm>
          <a:prstGeom prst="ellipse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Oval 3"/>
          <p:cNvSpPr/>
          <p:nvPr/>
        </p:nvSpPr>
        <p:spPr>
          <a:xfrm>
            <a:off x="2871215" y="2185415"/>
            <a:ext cx="292608" cy="292608"/>
          </a:xfrm>
          <a:prstGeom prst="ellipse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3941063" y="2889504"/>
            <a:ext cx="438912" cy="438912"/>
          </a:xfrm>
          <a:prstGeom prst="ellipse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2075688" y="3904488"/>
            <a:ext cx="329184" cy="329184"/>
          </a:xfrm>
          <a:prstGeom prst="ellipse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3236976" y="4379976"/>
            <a:ext cx="384048" cy="384048"/>
          </a:xfrm>
          <a:prstGeom prst="ellipse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4398264" y="4215384"/>
            <a:ext cx="256032" cy="256032"/>
          </a:xfrm>
          <a:prstGeom prst="ellipse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5394960" y="3520440"/>
            <a:ext cx="1371600" cy="0"/>
          </a:xfrm>
          <a:prstGeom prst="line">
            <a:avLst/>
          </a:prstGeom>
          <a:ln w="44450">
            <a:solidFill>
              <a:srgbClr val="12332E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751576" y="2276856"/>
            <a:ext cx="658368" cy="658368"/>
          </a:xfrm>
          <a:prstGeom prst="ellipse">
            <a:avLst/>
          </a:prstGeom>
          <a:solidFill>
            <a:srgbClr val="12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Bricolage Grotesque"/>
              </a:rPr>
              <a:t>ER</a:t>
            </a:r>
          </a:p>
        </p:txBody>
      </p:sp>
      <p:sp>
        <p:nvSpPr>
          <p:cNvPr id="11" name="Oval 10"/>
          <p:cNvSpPr/>
          <p:nvPr/>
        </p:nvSpPr>
        <p:spPr>
          <a:xfrm>
            <a:off x="7415784" y="2944368"/>
            <a:ext cx="347472" cy="347472"/>
          </a:xfrm>
          <a:prstGeom prst="ellipse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 Same Side Corner Rectangle 11"/>
          <p:cNvSpPr/>
          <p:nvPr/>
        </p:nvSpPr>
        <p:spPr>
          <a:xfrm>
            <a:off x="7278624" y="3364992"/>
            <a:ext cx="621792" cy="329184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" name="Connector 12"/>
          <p:cNvCxnSpPr/>
          <p:nvPr/>
        </p:nvCxnSpPr>
        <p:spPr>
          <a:xfrm>
            <a:off x="8138160" y="3520440"/>
            <a:ext cx="3063240" cy="0"/>
          </a:xfrm>
          <a:prstGeom prst="line">
            <a:avLst/>
          </a:prstGeom>
          <a:ln w="31750">
            <a:solidFill>
              <a:srgbClr val="0F7A6B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275320" y="3337560"/>
            <a:ext cx="365760" cy="365760"/>
          </a:xfrm>
          <a:prstGeom prst="ellipse">
            <a:avLst/>
          </a:prstGeom>
          <a:solidFill>
            <a:srgbClr val="0F7A6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96528" y="3374136"/>
            <a:ext cx="292608" cy="292608"/>
          </a:xfrm>
          <a:prstGeom prst="ellipse">
            <a:avLst/>
          </a:prstGeom>
          <a:solidFill>
            <a:srgbClr val="0F7A6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9208008" y="3300984"/>
            <a:ext cx="438912" cy="438912"/>
          </a:xfrm>
          <a:prstGeom prst="ellipse">
            <a:avLst/>
          </a:prstGeom>
          <a:solidFill>
            <a:srgbClr val="0F7A6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47504" y="3355848"/>
            <a:ext cx="329184" cy="329184"/>
          </a:xfrm>
          <a:prstGeom prst="ellipse">
            <a:avLst/>
          </a:prstGeom>
          <a:solidFill>
            <a:srgbClr val="0F7A6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204703" y="3328416"/>
            <a:ext cx="384048" cy="384048"/>
          </a:xfrm>
          <a:prstGeom prst="ellipse">
            <a:avLst/>
          </a:prstGeom>
          <a:solidFill>
            <a:srgbClr val="0F7A6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716767" y="3392424"/>
            <a:ext cx="256032" cy="256032"/>
          </a:xfrm>
          <a:prstGeom prst="ellipse">
            <a:avLst/>
          </a:prstGeom>
          <a:solidFill>
            <a:srgbClr val="0F7A6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507492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566662"/>
                </a:solidFill>
                <a:latin typeface="Bricolage Grotesque"/>
              </a:rPr>
              <a:t>Centrado em episódios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5074920"/>
            <a:ext cx="44805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0F7A6B"/>
                </a:solidFill>
                <a:latin typeface="Bricolage Grotesque"/>
              </a:rPr>
              <a:t>Centrado na história do doente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0FD5B-1595-FD48-4E2E-6CEDC49C8B0E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US" dirty="0"/>
              <a:t>Risco de </a:t>
            </a:r>
            <a:r>
              <a:rPr lang="en-US" dirty="0" err="1"/>
              <a:t>quê</a:t>
            </a:r>
            <a:r>
              <a:rPr lang="en-US" dirty="0"/>
              <a:t>?</a:t>
            </a:r>
            <a:endParaRPr lang="pt-PT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C657F09-DE5A-A2E6-3CE5-6ED2459116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038694"/>
              </p:ext>
            </p:extLst>
          </p:nvPr>
        </p:nvGraphicFramePr>
        <p:xfrm>
          <a:off x="566927" y="1645920"/>
          <a:ext cx="10599601" cy="4492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3763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000" b="1">
                <a:latin typeface="Bricolage Grotesque"/>
              </a:rPr>
              <a:t>A OMS recomenda a estratificação pelo risco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rPr sz="1600" b="1">
                <a:solidFill>
                  <a:srgbClr val="0F7A6B"/>
                </a:solidFill>
                <a:latin typeface="Bricolage Grotesque"/>
              </a:rPr>
              <a:t>O que a OMS recomenda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 wrap="square" anchor="t"/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0F7A6B"/>
                </a:solidFill>
                <a:latin typeface="Work Sans"/>
              </a:rPr>
              <a:t>2016 · Assembleia Mundial da Saúde  </a:t>
            </a:r>
            <a:r>
              <a:rPr sz="1250">
                <a:solidFill>
                  <a:srgbClr val="12332E"/>
                </a:solidFill>
                <a:latin typeface="Work Sans"/>
              </a:rPr>
              <a:t>A «estratificação do risco da população» é uma das opções de política do Framework on integrated, people-centred health services (estratégia 3, reorientar o modelo de cuidados: revalorizar a promoção, a prevenção e a saúde pública).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0F7A6B"/>
                </a:solidFill>
                <a:latin typeface="Work Sans"/>
              </a:rPr>
              <a:t>2016 · OMS/Europa  </a:t>
            </a:r>
            <a:r>
              <a:rPr sz="1250">
                <a:solidFill>
                  <a:srgbClr val="12332E"/>
                </a:solidFill>
                <a:latin typeface="Work Sans"/>
              </a:rPr>
              <a:t>«Stratifying health needs and risks» é a primeira estratégia do European Framework for Action on Integrated Health Services Delivery, no domínio Pessoas: identificar as necessidades de saúde.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>
                <a:solidFill>
                  <a:srgbClr val="0F7A6B"/>
                </a:solidFill>
                <a:latin typeface="Work Sans"/>
              </a:rPr>
              <a:t>2023 · OMS/Europa, cuidados de saúde primários  </a:t>
            </a:r>
            <a:r>
              <a:rPr sz="1250">
                <a:solidFill>
                  <a:srgbClr val="12332E"/>
                </a:solidFill>
                <a:latin typeface="Work Sans"/>
              </a:rPr>
              <a:t>A gestão da saúde populacional, com estratificação de risco, permite passar de uma abordagem «one-size-fits-all» para intervenções dirigidas e adaptadas às necessidades de cada grupo.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rPr sz="1600" b="1">
                <a:solidFill>
                  <a:srgbClr val="D37A22"/>
                </a:solidFill>
                <a:latin typeface="Bricolage Grotesque"/>
              </a:rPr>
              <a:t>Vantagens apontadas pela OMS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6"/>
          </p:nvPr>
        </p:nvSpPr>
        <p:spPr/>
        <p:txBody>
          <a:bodyPr wrap="square" anchor="t"/>
          <a:lstStyle/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D37A22"/>
                </a:solidFill>
                <a:latin typeface="Work Sans"/>
              </a:rPr>
              <a:t>Doente, não doença  </a:t>
            </a:r>
            <a:r>
              <a:rPr sz="1200">
                <a:solidFill>
                  <a:srgbClr val="12332E"/>
                </a:solidFill>
                <a:latin typeface="Work Sans"/>
              </a:rPr>
              <a:t>ajuda os sistemas de saúde a progredir de cuidados centrados na doença para cuidados centrados no doente.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D37A22"/>
                </a:solidFill>
                <a:latin typeface="Work Sans"/>
              </a:rPr>
              <a:t>Antecipar  </a:t>
            </a:r>
            <a:r>
              <a:rPr sz="1200">
                <a:solidFill>
                  <a:srgbClr val="12332E"/>
                </a:solidFill>
                <a:latin typeface="Work Sans"/>
              </a:rPr>
              <a:t>estima o risco atual e futuro de mortalidade, morbilidade e utilização de serviços, com critérios transparentes e baseados em evidência.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D37A22"/>
                </a:solidFill>
                <a:latin typeface="Work Sans"/>
              </a:rPr>
              <a:t>Atuar cedo  </a:t>
            </a:r>
            <a:r>
              <a:rPr sz="1200">
                <a:solidFill>
                  <a:srgbClr val="12332E"/>
                </a:solidFill>
                <a:latin typeface="Work Sans"/>
              </a:rPr>
              <a:t>identifica os doentes crónicos complexos para gestão de caso proativa, com validação clínica.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D37A22"/>
                </a:solidFill>
                <a:latin typeface="Work Sans"/>
              </a:rPr>
              <a:t>Planear  </a:t>
            </a:r>
            <a:r>
              <a:rPr sz="1200">
                <a:solidFill>
                  <a:srgbClr val="12332E"/>
                </a:solidFill>
                <a:latin typeface="Work Sans"/>
              </a:rPr>
              <a:t>apoia o planeamento de recursos, a compra estratégica e a dotação de profissionais.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D37A22"/>
                </a:solidFill>
                <a:latin typeface="Work Sans"/>
              </a:rPr>
              <a:t>Comparar  </a:t>
            </a:r>
            <a:r>
              <a:rPr sz="1200">
                <a:solidFill>
                  <a:srgbClr val="12332E"/>
                </a:solidFill>
                <a:latin typeface="Work Sans"/>
              </a:rPr>
              <a:t>permite benchmarking entre áreas de saúde e entre doentes.</a:t>
            </a:r>
          </a:p>
          <a:p>
            <a:pPr algn="l">
              <a:lnSpc>
                <a:spcPct val="108000"/>
              </a:lnSpc>
              <a:spcAft>
                <a:spcPts val="700"/>
              </a:spcAft>
            </a:pPr>
            <a:r>
              <a:rPr sz="1200" b="1">
                <a:solidFill>
                  <a:srgbClr val="D37A22"/>
                </a:solidFill>
                <a:latin typeface="Work Sans"/>
              </a:rPr>
              <a:t>Requisito  </a:t>
            </a:r>
            <a:r>
              <a:rPr sz="1200">
                <a:solidFill>
                  <a:srgbClr val="12332E"/>
                </a:solidFill>
                <a:latin typeface="Work Sans"/>
              </a:rPr>
              <a:t>registos de cuidados primários fiáveis, atualizados, sistematizados e informatizados.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870448"/>
            <a:ext cx="10698480" cy="566928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sz="800">
                <a:solidFill>
                  <a:srgbClr val="566662"/>
                </a:solidFill>
                <a:latin typeface="Work Sans"/>
              </a:rPr>
              <a:t>Fontes: OMS, Framework on integrated, people-centred health services, doc. A69/39 (2016), p. 7, adotado pela resolução WHA69.24 · OMS/Europa, The European Framework for Action on Integrated Health Services Delivery: overview (2016) · OMS/Europa, Population health management in primary health care: a proactive approach to improve health and well-being (WHO/EURO:2023-7497-47264-69316, 2023) · OMS/Europa, Population stratification: a fundamental instrument used for population health management in Spain, Good Practice Brief (WHO/EURO:2018-3032-42790-59709, 2018), pp. 1 e 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200" b="1">
                <a:latin typeface="Bricolage Grotesque"/>
              </a:rPr>
              <a:t>A estratificação pelo risco no mundo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517904"/>
            <a:ext cx="10972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566662"/>
                </a:solidFill>
                <a:latin typeface="Work Sans"/>
              </a:rPr>
              <a:t>Tipo de uso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17320" y="1527048"/>
            <a:ext cx="1117396" cy="192024"/>
          </a:xfrm>
          <a:prstGeom prst="roundRect">
            <a:avLst>
              <a:gd name="adj" fmla="val 50000"/>
            </a:avLst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Work Sans"/>
              </a:rPr>
              <a:t>Financiamento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44444" y="1527048"/>
            <a:ext cx="1997049" cy="192024"/>
          </a:xfrm>
          <a:prstGeom prst="roundRect">
            <a:avLst>
              <a:gd name="adj" fmla="val 50000"/>
            </a:avLst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Work Sans"/>
              </a:rPr>
              <a:t>Gestão proativa de doentes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1222" y="1527048"/>
            <a:ext cx="2403043" cy="192024"/>
          </a:xfrm>
          <a:prstGeom prst="roundRect">
            <a:avLst>
              <a:gd name="adj" fmla="val 50000"/>
            </a:avLst>
          </a:prstGeom>
          <a:solidFill>
            <a:srgbClr val="12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Work Sans"/>
              </a:rPr>
              <a:t>Planeamento e modelo de cuidados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1"/>
            <a:ext cx="3566160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947672"/>
            <a:ext cx="3273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Espanha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03703"/>
            <a:ext cx="1997049" cy="182880"/>
          </a:xfrm>
          <a:prstGeom prst="roundRect">
            <a:avLst>
              <a:gd name="adj" fmla="val 50000"/>
            </a:avLst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Work Sans"/>
              </a:rPr>
              <a:t>Gestão proativa de doentes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5145" y="2203703"/>
            <a:ext cx="1117396" cy="182880"/>
          </a:xfrm>
          <a:prstGeom prst="roundRect">
            <a:avLst>
              <a:gd name="adj" fmla="val 50000"/>
            </a:avLst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Work Sans"/>
              </a:rPr>
              <a:t>Financiamento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423160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2332E"/>
                </a:solidFill>
                <a:latin typeface="Work Sans"/>
              </a:rPr>
              <a:t>Grupos de Morbilidade Ajustados (AMG) em 13 das 17 regiões: gestão proativa de casos, pagamento per capita e planeamento. 38 milhões de pessoas agrupadas em 2015.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08376"/>
            <a:ext cx="3273552" cy="11887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1">
                <a:solidFill>
                  <a:srgbClr val="566662"/>
                </a:solidFill>
                <a:latin typeface="Work Sans"/>
              </a:rPr>
              <a:t>OMS/Europa, Good Practice Brief 2018, pp. 1 e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856231"/>
            <a:ext cx="3566160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1947672"/>
            <a:ext cx="3273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País Basco · Espanha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2203703"/>
            <a:ext cx="1997049" cy="182880"/>
          </a:xfrm>
          <a:prstGeom prst="roundRect">
            <a:avLst>
              <a:gd name="adj" fmla="val 50000"/>
            </a:avLst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Work Sans"/>
              </a:rPr>
              <a:t>Gestão proativa de doentes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423160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2332E"/>
                </a:solidFill>
                <a:latin typeface="Work Sans"/>
              </a:rPr>
              <a:t>Em 2010 estratificou toda a população com o modelo preditivo ACG: 1,96 milhões de cidadãos com mais de 14 anos, para os programas de doentes crónicos.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3008376"/>
            <a:ext cx="3273552" cy="11887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1">
                <a:solidFill>
                  <a:srgbClr val="566662"/>
                </a:solidFill>
                <a:latin typeface="Work Sans"/>
              </a:rPr>
              <a:t>Orueta et al., BMC HSR 2013, pp. 1–2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7" y="1856231"/>
            <a:ext cx="3566160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11311" y="1947672"/>
            <a:ext cx="3273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Suécia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1" y="2203703"/>
            <a:ext cx="1117396" cy="182880"/>
          </a:xfrm>
          <a:prstGeom prst="roundRect">
            <a:avLst>
              <a:gd name="adj" fmla="val 50000"/>
            </a:avLst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Work Sans"/>
              </a:rPr>
              <a:t>Financiamento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1" y="2423160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2332E"/>
                </a:solidFill>
                <a:latin typeface="Work Sans"/>
              </a:rPr>
              <a:t>Em 2013, 11 dos 21 conselhos de condado ajustavam a capitação dos centros de cuidados primários com ACG, combinado com o índice socioeconómico CNI.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1" y="3008376"/>
            <a:ext cx="3273552" cy="11887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1">
                <a:solidFill>
                  <a:srgbClr val="566662"/>
                </a:solidFill>
                <a:latin typeface="Work Sans"/>
              </a:rPr>
              <a:t>Anell et al., BMC HSR 2018, p. 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255263"/>
            <a:ext cx="3566160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3346703"/>
            <a:ext cx="3273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Inglaterra · NHS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602735"/>
            <a:ext cx="1997049" cy="182880"/>
          </a:xfrm>
          <a:prstGeom prst="roundRect">
            <a:avLst>
              <a:gd name="adj" fmla="val 50000"/>
            </a:avLst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Work Sans"/>
              </a:rPr>
              <a:t>Gestão proativa de doentes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3822191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2332E"/>
                </a:solidFill>
                <a:latin typeface="Work Sans"/>
              </a:rPr>
              <a:t>Práticas de medicina geral e CCG usam a estratificação ACG para identificar os doentes em maior risco de admissão urgente.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407407"/>
            <a:ext cx="3273552" cy="11887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1">
                <a:solidFill>
                  <a:srgbClr val="566662"/>
                </a:solidFill>
                <a:latin typeface="Work Sans"/>
              </a:rPr>
              <a:t>NHS England, Using case finding and risk stratification, 2015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15968" y="3255263"/>
            <a:ext cx="3566160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62272" y="3346703"/>
            <a:ext cx="3273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EUA · Medicaid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62272" y="3602735"/>
            <a:ext cx="1117396" cy="182880"/>
          </a:xfrm>
          <a:prstGeom prst="roundRect">
            <a:avLst>
              <a:gd name="adj" fmla="val 50000"/>
            </a:avLst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Work Sans"/>
              </a:rPr>
              <a:t>Financiamento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3822191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2332E"/>
                </a:solidFill>
                <a:latin typeface="Work Sans"/>
              </a:rPr>
              <a:t>Maryland e Minnesota ajustam por ACG a capitação paga aos planos de cuidados geridos do Medicaid; no Minnesota desde 1 de janeiro de 2000.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4407407"/>
            <a:ext cx="3273552" cy="11887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1">
                <a:solidFill>
                  <a:srgbClr val="566662"/>
                </a:solidFill>
                <a:latin typeface="Work Sans"/>
              </a:rPr>
              <a:t>Adams et al., HCFR 2002, p. 1; Gifford et al., HCFR 2004, pp. 1 e 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7" y="3255263"/>
            <a:ext cx="3566160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11311" y="3346703"/>
            <a:ext cx="3273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EUA · Kaiser Permanente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11311" y="3602735"/>
            <a:ext cx="2403043" cy="182880"/>
          </a:xfrm>
          <a:prstGeom prst="roundRect">
            <a:avLst>
              <a:gd name="adj" fmla="val 50000"/>
            </a:avLst>
          </a:prstGeom>
          <a:solidFill>
            <a:srgbClr val="12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Work Sans"/>
              </a:rPr>
              <a:t>Planeamento e modelo de cuidados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1" y="3822191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2332E"/>
                </a:solidFill>
                <a:latin typeface="Work Sans"/>
              </a:rPr>
              <a:t>Cuidados integrados assentes na estratificação da população (pirâmide de Kaiser): prevenção para todos, autogestão para os crónicos, gestão de caso para o alto risco.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1" y="4407407"/>
            <a:ext cx="3273552" cy="11887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1">
                <a:solidFill>
                  <a:srgbClr val="566662"/>
                </a:solidFill>
                <a:latin typeface="Work Sans"/>
              </a:rPr>
              <a:t>OMS/Europa, Integrated care models: an overview, 2016, p. 25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4654296"/>
            <a:ext cx="3566160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" y="4745736"/>
            <a:ext cx="3273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Israel · Clalit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" y="5001768"/>
            <a:ext cx="1997049" cy="182880"/>
          </a:xfrm>
          <a:prstGeom prst="roundRect">
            <a:avLst>
              <a:gd name="adj" fmla="val 50000"/>
            </a:avLst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Work Sans"/>
              </a:rPr>
              <a:t>Gestão proativa de doentes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5221224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2332E"/>
                </a:solidFill>
                <a:latin typeface="Work Sans"/>
              </a:rPr>
              <a:t>A maior organização de saúde de Israel (3,9 milhões de inscritos) usa o ACG para ajustar a morbilidade e selecionar doentes multimórbidos para gestão proativa.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" y="5806440"/>
            <a:ext cx="3273552" cy="11887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1">
                <a:solidFill>
                  <a:srgbClr val="566662"/>
                </a:solidFill>
                <a:latin typeface="Work Sans"/>
              </a:rPr>
              <a:t>Shadmi et al., BMC Public Health 2011, p. 1; Cohen et al., Pop Health Manag 2015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15968" y="4654296"/>
            <a:ext cx="3566160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62272" y="4745736"/>
            <a:ext cx="3273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Chile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462272" y="5001768"/>
            <a:ext cx="2403043" cy="182880"/>
          </a:xfrm>
          <a:prstGeom prst="roundRect">
            <a:avLst>
              <a:gd name="adj" fmla="val 50000"/>
            </a:avLst>
          </a:prstGeom>
          <a:solidFill>
            <a:srgbClr val="12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Work Sans"/>
              </a:rPr>
              <a:t>Planeamento e modelo de cuidados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62272" y="5221224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2332E"/>
                </a:solidFill>
                <a:latin typeface="Work Sans"/>
              </a:rPr>
              <a:t>ACG aplicado a 1,88 milhões de doentes de 64 centros de cuidados primários em 22 comunas, para afetar os recursos segundo a carga de doença de cada centro.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62272" y="5806440"/>
            <a:ext cx="3273552" cy="11887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1">
                <a:solidFill>
                  <a:srgbClr val="566662"/>
                </a:solidFill>
                <a:latin typeface="Work Sans"/>
              </a:rPr>
              <a:t>Santelices et al., Rev Med Chile 2016, pp. 2–3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65007" y="4654296"/>
            <a:ext cx="3566160" cy="13167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11311" y="4745736"/>
            <a:ext cx="327355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Uzbequistão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11311" y="5001768"/>
            <a:ext cx="1997049" cy="182880"/>
          </a:xfrm>
          <a:prstGeom prst="roundRect">
            <a:avLst>
              <a:gd name="adj" fmla="val 50000"/>
            </a:avLst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54864" tIns="0" rIns="54864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  <a:latin typeface="Work Sans"/>
              </a:rPr>
              <a:t>Gestão proativa de doentes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11311" y="5221224"/>
            <a:ext cx="3273552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 i="0">
                <a:solidFill>
                  <a:srgbClr val="12332E"/>
                </a:solidFill>
                <a:latin typeface="Work Sans"/>
              </a:rPr>
              <a:t>Reforma desde 2018: equipas de cuidados primários (cerca de 2000 habitantes cada) estratificam os adultos com mais de 40 anos com os protocolos WHO PEN e HEARTS, em papel.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1311" y="5806440"/>
            <a:ext cx="3273552" cy="11887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650" b="0" i="1">
                <a:solidFill>
                  <a:srgbClr val="566662"/>
                </a:solidFill>
                <a:latin typeface="Work Sans"/>
              </a:rPr>
              <a:t>OMS/Europa, Population health management in PHC, 2023, p. 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" y="6053328"/>
            <a:ext cx="10607040" cy="32918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700" b="0" i="0">
                <a:solidFill>
                  <a:srgbClr val="566662"/>
                </a:solidFill>
                <a:latin typeface="Work Sans"/>
              </a:rPr>
              <a:t>Fontes em docs/ (páginas físicas do PDF), exceto NHS England 2015 e Cohen 2015, consultados online (ver output/utilizacao-internacional-acg.md). Portugal: ACG a nível nacional desde 2024 (Circular Normativa 4/2024/ACSS).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4AFBE-27E3-ECA5-89E1-2B94C194AA94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US" dirty="0"/>
              <a:t>Estratificação pelo Risco no </a:t>
            </a:r>
            <a:r>
              <a:rPr lang="en-US" dirty="0" err="1"/>
              <a:t>contexto</a:t>
            </a:r>
            <a:r>
              <a:rPr lang="en-US" dirty="0"/>
              <a:t> </a:t>
            </a:r>
            <a:r>
              <a:rPr lang="en-US" dirty="0" err="1"/>
              <a:t>Português</a:t>
            </a:r>
            <a:endParaRPr lang="pt-P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5F09E0-8EE8-073B-F592-5402FE0D9A73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endParaRPr lang="pt-PT" sz="2400" dirty="0"/>
          </a:p>
          <a:p>
            <a:endParaRPr lang="pt-PT" sz="2400" dirty="0"/>
          </a:p>
          <a:p>
            <a:r>
              <a:rPr lang="pt-PT" sz="2400" dirty="0"/>
              <a:t>“A estratificação da população pelo risco é uma abordagem sistemática, de abrangência populacional, usada para prever necessidades futuras, sejam elas morbilidade, </a:t>
            </a:r>
            <a:r>
              <a:rPr lang="pt-PT" sz="2400" b="1" u="sng" dirty="0"/>
              <a:t>consumo de recursos</a:t>
            </a:r>
            <a:r>
              <a:rPr lang="pt-PT" sz="2400" dirty="0"/>
              <a:t>, </a:t>
            </a:r>
            <a:r>
              <a:rPr lang="pt-PT" sz="2400" b="1" u="sng" dirty="0"/>
              <a:t>custos</a:t>
            </a:r>
            <a:r>
              <a:rPr lang="pt-PT" sz="2400" dirty="0"/>
              <a:t> ou </a:t>
            </a:r>
            <a:r>
              <a:rPr lang="pt-PT" sz="2400" b="1" u="sng" dirty="0"/>
              <a:t>ocorrência de eventos adversos</a:t>
            </a:r>
            <a:r>
              <a:rPr lang="pt-PT" sz="2400" dirty="0"/>
              <a:t>, tais como admissões não planeadas e potencialmente evitáveis.”</a:t>
            </a:r>
          </a:p>
          <a:p>
            <a:r>
              <a:rPr lang="pt-PT" i="1" dirty="0"/>
              <a:t>Circular Normativa n.º 4/2024/ACSS (2024)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61283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66928" y="82296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Do financiamento à capitação ajustada ao risco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  <a:latin typeface="Work Sans"/>
                <a:ea typeface="Work Sans"/>
                <a:cs typeface="Work San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8490857" y="1737360"/>
            <a:ext cx="1597587" cy="4087368"/>
          </a:xfrm>
          <a:prstGeom prst="rect">
            <a:avLst/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54865" y="1828800"/>
            <a:ext cx="146957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1" spc="200">
                <a:solidFill>
                  <a:srgbClr val="D37A22"/>
                </a:solidFill>
                <a:latin typeface="Work Sans"/>
              </a:rPr>
              <a:t>CAPITAÇÃO AJUSTADA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55955" y="2194560"/>
            <a:ext cx="440871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00">
                <a:solidFill>
                  <a:srgbClr val="0F7A6B"/>
                </a:solidFill>
                <a:latin typeface="Work Sans"/>
              </a:rPr>
              <a:t>FINANCIAMENTO E</a:t>
            </a:r>
          </a:p>
          <a:p>
            <a:pPr algn="l"/>
            <a:r>
              <a:rPr sz="1000" b="1" spc="200">
                <a:solidFill>
                  <a:srgbClr val="0F7A6B"/>
                </a:solidFill>
                <a:latin typeface="Work Sans"/>
              </a:rPr>
              <a:t>ORGANIZAÇÃO DO SNS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276088"/>
            <a:ext cx="1469571" cy="4572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1000" b="1" spc="200">
                <a:solidFill>
                  <a:srgbClr val="0F7A6B"/>
                </a:solidFill>
                <a:latin typeface="Work Sans"/>
              </a:rPr>
              <a:t>ESTRATIFICAÇÃO</a:t>
            </a:r>
          </a:p>
          <a:p>
            <a:pPr algn="l"/>
            <a:r>
              <a:rPr sz="1000" b="1" spc="200">
                <a:solidFill>
                  <a:srgbClr val="0F7A6B"/>
                </a:solidFill>
                <a:latin typeface="Work Sans"/>
              </a:rPr>
              <a:t>PELO RISCO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66928" y="3986784"/>
            <a:ext cx="11055096" cy="0"/>
          </a:xfrm>
          <a:prstGeom prst="line">
            <a:avLst/>
          </a:prstGeom>
          <a:ln w="19050">
            <a:solidFill>
              <a:srgbClr val="0F7A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1237705" y="3922776"/>
            <a:ext cx="128016" cy="128016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3657600"/>
            <a:ext cx="146957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2332E"/>
                </a:solidFill>
                <a:latin typeface="Bricolage Grotesque"/>
              </a:rPr>
              <a:t>1989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5293" y="3922776"/>
            <a:ext cx="128016" cy="128016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164515" y="3657600"/>
            <a:ext cx="146957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2332E"/>
                </a:solidFill>
                <a:latin typeface="Bricolage Grotesque"/>
              </a:rPr>
              <a:t>2010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2880" y="3922776"/>
            <a:ext cx="128016" cy="128016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62102" y="3657600"/>
            <a:ext cx="146957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2332E"/>
                </a:solidFill>
                <a:latin typeface="Bricolage Grotesque"/>
              </a:rPr>
              <a:t>2016–17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0468" y="3922776"/>
            <a:ext cx="128016" cy="128016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59690" y="3657600"/>
            <a:ext cx="146957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2332E"/>
                </a:solidFill>
                <a:latin typeface="Bricolage Grotesque"/>
              </a:rPr>
              <a:t>2022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28055" y="3922776"/>
            <a:ext cx="128016" cy="128016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57277" y="3657600"/>
            <a:ext cx="146957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2332E"/>
                </a:solidFill>
                <a:latin typeface="Bricolage Grotesque"/>
              </a:rPr>
              <a:t>2023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98210" y="3895344"/>
            <a:ext cx="182880" cy="182880"/>
          </a:xfrm>
          <a:prstGeom prst="rect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54865" y="3657600"/>
            <a:ext cx="146957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D37A22"/>
                </a:solidFill>
                <a:latin typeface="Bricolage Grotesque"/>
              </a:rPr>
              <a:t>2024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23230" y="3922776"/>
            <a:ext cx="128016" cy="128016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152452" y="3657600"/>
            <a:ext cx="1469571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2332E"/>
                </a:solidFill>
                <a:latin typeface="Bricolage Grotesque"/>
              </a:rPr>
              <a:t>2025–29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2103120"/>
            <a:ext cx="1469571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76656" y="2212848"/>
            <a:ext cx="82296" cy="82296"/>
          </a:xfrm>
          <a:prstGeom prst="rect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6656" y="2359152"/>
            <a:ext cx="1250115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332E"/>
                </a:solidFill>
                <a:latin typeface="Bricolage Grotesque"/>
              </a:rPr>
              <a:t>GDH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566662"/>
                </a:solidFill>
                <a:latin typeface="Work Sans"/>
              </a:rPr>
              <a:t>Classificação do episódio hospitalar (casemix), usada em Portugal desde 1989.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" y="3273551"/>
            <a:ext cx="1250115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700" b="0">
                <a:solidFill>
                  <a:srgbClr val="0F7A6B"/>
                </a:solidFill>
                <a:latin typeface="Work Sans"/>
              </a:rPr>
              <a:t>Despacho 12986/2023, p.1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57277" y="2103120"/>
            <a:ext cx="1469571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067005" y="2212848"/>
            <a:ext cx="82296" cy="82296"/>
          </a:xfrm>
          <a:prstGeom prst="rect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067005" y="2359152"/>
            <a:ext cx="1250115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332E"/>
                </a:solidFill>
                <a:latin typeface="Bricolage Grotesque"/>
              </a:rPr>
              <a:t>ULS generalizadas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566662"/>
                </a:solidFill>
                <a:latin typeface="Work Sans"/>
              </a:rPr>
              <a:t>DL 102/2023: 39 ULS a partir de 1/1/2024, integrando CSP e hospitais.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67005" y="3273551"/>
            <a:ext cx="1250115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700" b="0">
                <a:solidFill>
                  <a:srgbClr val="0F7A6B"/>
                </a:solidFill>
                <a:latin typeface="Work Sans"/>
              </a:rPr>
              <a:t>Despacho 12986/2023, p.1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54865" y="2103120"/>
            <a:ext cx="1469571" cy="1417320"/>
          </a:xfrm>
          <a:prstGeom prst="rect">
            <a:avLst/>
          </a:prstGeom>
          <a:solidFill>
            <a:srgbClr val="12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8664593" y="2212848"/>
            <a:ext cx="82296" cy="82296"/>
          </a:xfrm>
          <a:prstGeom prst="rect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64593" y="2359152"/>
            <a:ext cx="1250115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Bricolage Grotesque"/>
              </a:rPr>
              <a:t>Novo modelo ULS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FFFFFF"/>
                </a:solidFill>
                <a:latin typeface="Work Sans"/>
              </a:rPr>
              <a:t>Componente capitacional ajustada pelo risco, pelo índice de casemix GRA.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64593" y="3273551"/>
            <a:ext cx="1250115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700" b="0">
                <a:solidFill>
                  <a:srgbClr val="E0EEEB"/>
                </a:solidFill>
                <a:latin typeface="Work Sans"/>
              </a:rPr>
              <a:t>GH, p.2, 4; CN 4/2024, p.7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52452" y="2103120"/>
            <a:ext cx="1469571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0262180" y="2212848"/>
            <a:ext cx="82296" cy="82296"/>
          </a:xfrm>
          <a:prstGeom prst="rect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262180" y="2359152"/>
            <a:ext cx="1250115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332E"/>
                </a:solidFill>
                <a:latin typeface="Bricolage Grotesque"/>
              </a:rPr>
              <a:t>Meta de 25%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566662"/>
                </a:solidFill>
                <a:latin typeface="Work Sans"/>
              </a:rPr>
              <a:t>Até 2029, 25% do financiamento associado à ER (GOP 2025–2029).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62180" y="3273551"/>
            <a:ext cx="1250115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700" b="0">
                <a:solidFill>
                  <a:srgbClr val="0F7A6B"/>
                </a:solidFill>
                <a:latin typeface="Work Sans"/>
              </a:rPr>
              <a:t>PÚBLICO, p.2 (secundária)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64515" y="4315968"/>
            <a:ext cx="1469571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274243" y="4425696"/>
            <a:ext cx="82296" cy="82296"/>
          </a:xfrm>
          <a:prstGeom prst="rect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2274243" y="4572000"/>
            <a:ext cx="1250115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332E"/>
                </a:solidFill>
                <a:latin typeface="Bricolage Grotesque"/>
              </a:rPr>
              <a:t>Verisk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566662"/>
                </a:solidFill>
                <a:latin typeface="Work Sans"/>
              </a:rPr>
              <a:t>Validação de dados e aplicação de ajustamento pelo risco.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74243" y="5486400"/>
            <a:ext cx="1250115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700" b="0">
                <a:solidFill>
                  <a:srgbClr val="0F7A6B"/>
                </a:solidFill>
                <a:latin typeface="Work Sans"/>
              </a:rPr>
              <a:t>Estratégia ACSS, p.6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762102" y="4315968"/>
            <a:ext cx="1469571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3871830" y="4425696"/>
            <a:ext cx="82296" cy="82296"/>
          </a:xfrm>
          <a:prstGeom prst="rect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3871830" y="4572000"/>
            <a:ext cx="1250115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332E"/>
                </a:solidFill>
                <a:latin typeface="Bricolage Grotesque"/>
              </a:rPr>
              <a:t>ACG e CRG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566662"/>
                </a:solidFill>
                <a:latin typeface="Work Sans"/>
              </a:rPr>
              <a:t>Estudo com utentes da ARS Norte e das ULS; listas de utentes de MGF.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71830" y="5486400"/>
            <a:ext cx="1250115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700" b="0">
                <a:solidFill>
                  <a:srgbClr val="0F7A6B"/>
                </a:solidFill>
                <a:latin typeface="Work Sans"/>
              </a:rPr>
              <a:t>Estratégia ACSS, p.6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59690" y="4315968"/>
            <a:ext cx="1469571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5469418" y="4425696"/>
            <a:ext cx="82296" cy="82296"/>
          </a:xfrm>
          <a:prstGeom prst="rect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5469418" y="4572000"/>
            <a:ext cx="1250115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332E"/>
                </a:solidFill>
                <a:latin typeface="Bricolage Grotesque"/>
              </a:rPr>
              <a:t>Estratégia ACSS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566662"/>
                </a:solidFill>
                <a:latin typeface="Work Sans"/>
              </a:rPr>
              <a:t>Objetivo 2: proposta de financiamento ajustado pelo risco até set./2023.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69418" y="5486400"/>
            <a:ext cx="1250115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700" b="0">
                <a:solidFill>
                  <a:srgbClr val="0F7A6B"/>
                </a:solidFill>
                <a:latin typeface="Work Sans"/>
              </a:rPr>
              <a:t>Estratégia ACSS, p.18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57277" y="4315968"/>
            <a:ext cx="1469571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7067005" y="4425696"/>
            <a:ext cx="82296" cy="82296"/>
          </a:xfrm>
          <a:prstGeom prst="rect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067005" y="4572000"/>
            <a:ext cx="1250115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2332E"/>
                </a:solidFill>
                <a:latin typeface="Bricolage Grotesque"/>
              </a:rPr>
              <a:t>Despacho 12986/2023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566662"/>
                </a:solidFill>
                <a:latin typeface="Work Sans"/>
              </a:rPr>
              <a:t>Define o uso da ER no SNS; ferramenta adquirida agrupa utentes em GRA.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067005" y="5486400"/>
            <a:ext cx="1250115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700" b="0">
                <a:solidFill>
                  <a:srgbClr val="0F7A6B"/>
                </a:solidFill>
                <a:latin typeface="Work Sans"/>
              </a:rPr>
              <a:t>Despacho, p.1–2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554865" y="4315968"/>
            <a:ext cx="1469571" cy="1417320"/>
          </a:xfrm>
          <a:prstGeom prst="rect">
            <a:avLst/>
          </a:prstGeom>
          <a:solidFill>
            <a:srgbClr val="12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8664593" y="4425696"/>
            <a:ext cx="82296" cy="82296"/>
          </a:xfrm>
          <a:prstGeom prst="rect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8664593" y="4572000"/>
            <a:ext cx="1250115" cy="1088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Bricolage Grotesque"/>
              </a:rPr>
              <a:t>1.ª aplicação da ER</a:t>
            </a:r>
          </a:p>
          <a:p>
            <a:pPr algn="l">
              <a:spcBef>
                <a:spcPts val="300"/>
              </a:spcBef>
            </a:pPr>
            <a:r>
              <a:rPr sz="900" b="0">
                <a:solidFill>
                  <a:srgbClr val="FFFFFF"/>
                </a:solidFill>
                <a:latin typeface="Work Sans"/>
              </a:rPr>
              <a:t>ACG: GRA por utente (dados 2019) e índice de casemix por ULS.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64593" y="5486400"/>
            <a:ext cx="1250115" cy="18288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700" b="0">
                <a:solidFill>
                  <a:srgbClr val="E0EEEB"/>
                </a:solidFill>
                <a:latin typeface="Work Sans"/>
              </a:rPr>
              <a:t>GH, p.2–4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66928" y="5925312"/>
            <a:ext cx="11055096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700" b="0">
                <a:solidFill>
                  <a:srgbClr val="566662"/>
                </a:solidFill>
                <a:latin typeface="Work Sans"/>
              </a:rPr>
              <a:t>Escala temporal não proporcional. GH = artigo “Estratificação da população pelo risco em Portugal” (revista GH). CN = Circular Normativa; GOP = Grandes Opções.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C2ADC-BD7F-10AE-C947-B18BF44F1A78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US" dirty="0" err="1"/>
              <a:t>Ideias</a:t>
            </a:r>
            <a:r>
              <a:rPr lang="en-US" dirty="0"/>
              <a:t> </a:t>
            </a:r>
            <a:r>
              <a:rPr lang="en-US" dirty="0" err="1"/>
              <a:t>chave</a:t>
            </a:r>
            <a:endParaRPr lang="pt-P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E53DC-D0E6-D9D2-3D67-12057280927F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A ER é </a:t>
            </a:r>
            <a:r>
              <a:rPr lang="en-US" sz="2400" dirty="0" err="1"/>
              <a:t>uma</a:t>
            </a:r>
            <a:r>
              <a:rPr lang="en-US" sz="2400" dirty="0"/>
              <a:t> “framework” de </a:t>
            </a:r>
            <a:r>
              <a:rPr lang="en-US" sz="2400" dirty="0" err="1"/>
              <a:t>segmentação</a:t>
            </a:r>
            <a:r>
              <a:rPr lang="en-US" sz="2400" dirty="0"/>
              <a:t> de </a:t>
            </a:r>
            <a:r>
              <a:rPr lang="en-US" sz="2400" dirty="0" err="1"/>
              <a:t>uma</a:t>
            </a:r>
            <a:r>
              <a:rPr lang="en-US" sz="2400" dirty="0"/>
              <a:t> população Segundo um “risco”;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“risco” </a:t>
            </a:r>
            <a:r>
              <a:rPr lang="en-US" sz="2400" dirty="0" err="1"/>
              <a:t>tem</a:t>
            </a:r>
            <a:r>
              <a:rPr lang="en-US" sz="2400" dirty="0"/>
              <a:t> </a:t>
            </a:r>
            <a:r>
              <a:rPr lang="en-US" sz="2400" dirty="0" err="1"/>
              <a:t>significado</a:t>
            </a:r>
            <a:r>
              <a:rPr lang="en-US" sz="2400" dirty="0"/>
              <a:t> diferente </a:t>
            </a:r>
            <a:r>
              <a:rPr lang="en-US" sz="2400" dirty="0" err="1"/>
              <a:t>conforme</a:t>
            </a:r>
            <a:r>
              <a:rPr lang="en-US" sz="2400" dirty="0"/>
              <a:t> modelo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Cada modelo </a:t>
            </a:r>
            <a:r>
              <a:rPr lang="en-US" sz="2400" dirty="0" err="1"/>
              <a:t>tem</a:t>
            </a:r>
            <a:r>
              <a:rPr lang="en-US" sz="2400" dirty="0"/>
              <a:t> o context de </a:t>
            </a:r>
            <a:r>
              <a:rPr lang="en-US" sz="2400" dirty="0" err="1"/>
              <a:t>uso</a:t>
            </a:r>
            <a:r>
              <a:rPr lang="en-US" sz="2400" dirty="0"/>
              <a:t> </a:t>
            </a:r>
            <a:r>
              <a:rPr lang="en-US" sz="2400" dirty="0" err="1"/>
              <a:t>apropriado</a:t>
            </a:r>
            <a:endParaRPr lang="en-US" sz="2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dirty="0"/>
              <a:t>A ER </a:t>
            </a:r>
            <a:r>
              <a:rPr lang="en-US" sz="2400" dirty="0" err="1"/>
              <a:t>em</a:t>
            </a:r>
            <a:r>
              <a:rPr lang="en-US" sz="2400" dirty="0"/>
              <a:t> Portugal </a:t>
            </a:r>
            <a:r>
              <a:rPr lang="en-US" sz="2400" dirty="0" err="1"/>
              <a:t>usa</a:t>
            </a:r>
            <a:r>
              <a:rPr lang="en-US" sz="2400" dirty="0"/>
              <a:t> o modelo ACG da John Hopkins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u="sng" dirty="0"/>
              <a:t>Pitfall: RISCO = </a:t>
            </a:r>
            <a:r>
              <a:rPr lang="en-US" sz="2400" b="1" u="sng" dirty="0" err="1"/>
              <a:t>Probabilidade</a:t>
            </a:r>
            <a:r>
              <a:rPr lang="en-US" sz="2400" b="1" u="sng" dirty="0"/>
              <a:t> de </a:t>
            </a:r>
            <a:r>
              <a:rPr lang="en-US" sz="2400" b="1" u="sng" dirty="0" err="1"/>
              <a:t>Utilização</a:t>
            </a:r>
            <a:r>
              <a:rPr lang="en-US" sz="2400" b="1" u="sng" dirty="0"/>
              <a:t> de Recursos</a:t>
            </a:r>
            <a:r>
              <a:rPr lang="en-US" sz="2400" dirty="0"/>
              <a:t> e não </a:t>
            </a:r>
            <a:r>
              <a:rPr lang="en-US" sz="2400" strike="sngStrike" dirty="0"/>
              <a:t>Outcomes </a:t>
            </a:r>
            <a:r>
              <a:rPr lang="en-US" sz="2400" strike="sngStrike" dirty="0" err="1"/>
              <a:t>em</a:t>
            </a:r>
            <a:r>
              <a:rPr lang="en-US" sz="2400" strike="sngStrike" dirty="0"/>
              <a:t> Saúde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471795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3B8DD4-4156-0A1F-4594-E8D128B67A33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pPr algn="ctr"/>
            <a:r>
              <a:rPr lang="en-US" sz="3600" b="1" u="sng" dirty="0"/>
              <a:t>RISCO = </a:t>
            </a:r>
            <a:r>
              <a:rPr lang="en-US" sz="3600" b="1" u="sng" dirty="0" err="1"/>
              <a:t>Probabilidade</a:t>
            </a:r>
            <a:r>
              <a:rPr lang="en-US" sz="3600" b="1" u="sng" dirty="0"/>
              <a:t> de </a:t>
            </a:r>
            <a:r>
              <a:rPr lang="en-US" sz="3600" b="1" u="sng" dirty="0" err="1"/>
              <a:t>Utilização</a:t>
            </a:r>
            <a:r>
              <a:rPr lang="en-US" sz="3600" b="1" u="sng" dirty="0"/>
              <a:t> de Recursos</a:t>
            </a:r>
          </a:p>
          <a:p>
            <a:pPr algn="ctr"/>
            <a:endParaRPr lang="en-US" sz="3600" u="sng" dirty="0"/>
          </a:p>
          <a:p>
            <a:pPr algn="ctr"/>
            <a:r>
              <a:rPr lang="en-US" sz="3600" strike="sngStrike" dirty="0"/>
              <a:t>Outcomes </a:t>
            </a:r>
            <a:r>
              <a:rPr lang="en-US" sz="3600" strike="sngStrike" dirty="0" err="1"/>
              <a:t>em</a:t>
            </a:r>
            <a:r>
              <a:rPr lang="en-US" sz="3600" strike="sngStrike" dirty="0"/>
              <a:t> Saúde</a:t>
            </a:r>
          </a:p>
          <a:p>
            <a:pPr algn="ctr"/>
            <a:endParaRPr lang="en-US" sz="3600" dirty="0"/>
          </a:p>
          <a:p>
            <a:pPr algn="ctr"/>
            <a:endParaRPr lang="en-US" sz="3600" dirty="0"/>
          </a:p>
          <a:p>
            <a:pPr algn="ctr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281699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2399C-4389-4EF0-DEB8-2951FD5C951E}"/>
              </a:ext>
            </a:extLst>
          </p:cNvPr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lang="en-US" dirty="0"/>
              <a:t>02</a:t>
            </a:r>
            <a:endParaRPr lang="pt-PT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FB7EF4-EEAA-0B54-B961-B0896DDB5B40}"/>
              </a:ext>
            </a:extLst>
          </p:cNvPr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lang="en-US" dirty="0"/>
              <a:t>Organização da ER </a:t>
            </a:r>
            <a:r>
              <a:rPr lang="en-US" dirty="0" err="1"/>
              <a:t>em</a:t>
            </a:r>
            <a:r>
              <a:rPr lang="en-US" dirty="0"/>
              <a:t> Portugal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81737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000"/>
              <a:t>Como está organizada a estratificação pelo risco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645920"/>
            <a:ext cx="1143000" cy="1298448"/>
          </a:xfrm>
          <a:prstGeom prst="rect">
            <a:avLst/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6928" y="1645920"/>
            <a:ext cx="114300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F7A6B"/>
                </a:solidFill>
                <a:latin typeface="Bricolage Grotesque"/>
              </a:rPr>
              <a:t>NACIONAL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200400"/>
            <a:ext cx="1143000" cy="713232"/>
          </a:xfrm>
          <a:prstGeom prst="rect">
            <a:avLst/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3200400"/>
            <a:ext cx="1143000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F7A6B"/>
                </a:solidFill>
                <a:latin typeface="Bricolage Grotesque"/>
              </a:rPr>
              <a:t>REDE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169663"/>
            <a:ext cx="1143000" cy="1783080"/>
          </a:xfrm>
          <a:prstGeom prst="rect">
            <a:avLst/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169663"/>
            <a:ext cx="1143000" cy="1783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 i="0">
                <a:solidFill>
                  <a:srgbClr val="0F7A6B"/>
                </a:solidFill>
                <a:latin typeface="Bricolage Grotesque"/>
              </a:rPr>
              <a:t>LOCAL · ULS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645920"/>
            <a:ext cx="3172968" cy="1298448"/>
          </a:xfrm>
          <a:prstGeom prst="rect">
            <a:avLst/>
          </a:prstGeom>
          <a:solidFill>
            <a:srgbClr val="12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39112" y="1719072"/>
            <a:ext cx="284378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Bricolage Grotesque"/>
              </a:rPr>
              <a:t>Tutela</a:t>
            </a:r>
          </a:p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0B070"/>
                </a:solidFill>
                <a:latin typeface="Work Sans"/>
              </a:rPr>
              <a:t>Despacho n.º 12986/2023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DDE6E2"/>
                </a:solidFill>
                <a:latin typeface="Work Sans"/>
              </a:rPr>
              <a:t>Define a estratégia e os 5 pilares: planeamento, financiamento, processos assistenciais, avaliação do desempenho e divulgação.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4648" y="1645920"/>
            <a:ext cx="3172968" cy="1298448"/>
          </a:xfrm>
          <a:prstGeom prst="rect">
            <a:avLst/>
          </a:prstGeom>
          <a:solidFill>
            <a:srgbClr val="12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49240" y="1719072"/>
            <a:ext cx="284378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Bricolage Grotesque"/>
              </a:rPr>
              <a:t>Equipa de Governação e Acompanhamento</a:t>
            </a:r>
          </a:p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0B070"/>
                </a:solidFill>
                <a:latin typeface="Work Sans"/>
              </a:rPr>
              <a:t>ex-Equipa de Projeto (desde 1/10/2024)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DDE6E2"/>
                </a:solidFill>
                <a:latin typeface="Work Sans"/>
              </a:rPr>
              <a:t>ACSS (coordena) · DE-SNS · DGS · INFARMED · SPMS. Promove e acompanha a utilização da ER no SNS.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94776" y="1645920"/>
            <a:ext cx="3172968" cy="1298448"/>
          </a:xfrm>
          <a:prstGeom prst="rect">
            <a:avLst/>
          </a:prstGeom>
          <a:solidFill>
            <a:srgbClr val="12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59367" y="1719072"/>
            <a:ext cx="284378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Bricolage Grotesque"/>
              </a:rPr>
              <a:t>ACSS e SPMS</a:t>
            </a:r>
          </a:p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F0B070"/>
                </a:solidFill>
                <a:latin typeface="Work Sans"/>
              </a:rPr>
              <a:t>suporte técnico</a:t>
            </a:r>
          </a:p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DDE6E2"/>
                </a:solidFill>
                <a:latin typeface="Work Sans"/>
              </a:rPr>
              <a:t>ACSS: publica todos os anos a tabela de GRA e pesos relativos. SPMS: sistemas, registo obrigatório de diagnósticos, alertas e retorno aos profissionais.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3200400"/>
            <a:ext cx="9793224" cy="713232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57400" y="3200400"/>
            <a:ext cx="9427464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Bricolage Grotesque"/>
              </a:rPr>
              <a:t>RILER  </a:t>
            </a:r>
            <a:r>
              <a:rPr sz="1050" b="0" i="0">
                <a:solidFill>
                  <a:srgbClr val="FFFFFF"/>
                </a:solidFill>
                <a:latin typeface="Work Sans"/>
              </a:rPr>
              <a:t>Rede de Interlocutores Locais para a ER (Circular Normativa 4/2024). Liga os ILER das 39 ULS entre si e à equipa central: colaboração, aprendizagem e partilha de boas práticas.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461004" y="2962656"/>
            <a:ext cx="0" cy="219456"/>
          </a:xfrm>
          <a:prstGeom prst="line">
            <a:avLst/>
          </a:prstGeom>
          <a:ln w="25400">
            <a:solidFill>
              <a:srgbClr val="5FA3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771132" y="2962656"/>
            <a:ext cx="0" cy="219456"/>
          </a:xfrm>
          <a:prstGeom prst="line">
            <a:avLst/>
          </a:prstGeom>
          <a:ln w="25400">
            <a:solidFill>
              <a:srgbClr val="5FA3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81259" y="2962656"/>
            <a:ext cx="0" cy="219456"/>
          </a:xfrm>
          <a:prstGeom prst="line">
            <a:avLst/>
          </a:prstGeom>
          <a:ln w="25400">
            <a:solidFill>
              <a:srgbClr val="5FA3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1874519" y="4169663"/>
            <a:ext cx="317296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74519" y="4169663"/>
            <a:ext cx="64008" cy="1783080"/>
          </a:xfrm>
          <a:prstGeom prst="rect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03120" y="4261104"/>
            <a:ext cx="2807208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2332E"/>
                </a:solidFill>
                <a:latin typeface="Bricolage Grotesque"/>
              </a:rPr>
              <a:t>ILER</a:t>
            </a:r>
          </a:p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37A22"/>
                </a:solidFill>
                <a:latin typeface="Work Sans"/>
              </a:rPr>
              <a:t>1 por ULS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66662"/>
                </a:solidFill>
                <a:latin typeface="Work Sans"/>
              </a:rPr>
              <a:t>Dinamiza a utilização da ER na ULS: formação interna, melhoria dos registos clínicos, análise e divulgação dos dados, uso no planeamento, nos processos assistenciais e na avaliação.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61004" y="3931920"/>
            <a:ext cx="0" cy="219456"/>
          </a:xfrm>
          <a:prstGeom prst="line">
            <a:avLst/>
          </a:prstGeom>
          <a:ln w="25400">
            <a:solidFill>
              <a:srgbClr val="5FA39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184648" y="4169663"/>
            <a:ext cx="317296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184648" y="4169663"/>
            <a:ext cx="64008" cy="1783080"/>
          </a:xfrm>
          <a:prstGeom prst="rect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13248" y="4261104"/>
            <a:ext cx="2807208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2332E"/>
                </a:solidFill>
                <a:latin typeface="Bricolage Grotesque"/>
              </a:rPr>
              <a:t>Equipa Local de ER</a:t>
            </a:r>
          </a:p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37A22"/>
                </a:solidFill>
                <a:latin typeface="Work Sans"/>
              </a:rPr>
              <a:t>criada por cada ULS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66662"/>
                </a:solidFill>
                <a:latin typeface="Work Sans"/>
              </a:rPr>
              <a:t>Em 2024: de 1 a 37 elementos, mais de 300 no total. Perfis: conselho de administração, planeamento, CSP, hospital, farmácia, comunicação, saúde pública. Elabora o Plano de Ação Local.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94776" y="4169663"/>
            <a:ext cx="317296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494776" y="4169663"/>
            <a:ext cx="64008" cy="1783080"/>
          </a:xfrm>
          <a:prstGeom prst="rect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23376" y="4261104"/>
            <a:ext cx="2807208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 i="0">
                <a:solidFill>
                  <a:srgbClr val="12332E"/>
                </a:solidFill>
                <a:latin typeface="Bricolage Grotesque"/>
              </a:rPr>
              <a:t>Profissionais e unidades</a:t>
            </a:r>
          </a:p>
          <a:p>
            <a:pPr algn="l">
              <a:spcAft>
                <a:spcPts val="300"/>
              </a:spcAft>
            </a:pPr>
            <a:r>
              <a:rPr sz="900" b="1" i="0">
                <a:solidFill>
                  <a:srgbClr val="D37A22"/>
                </a:solidFill>
                <a:latin typeface="Work Sans"/>
              </a:rPr>
              <a:t>CSP e hospital</a:t>
            </a: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566662"/>
                </a:solidFill>
                <a:latin typeface="Work Sans"/>
              </a:rPr>
              <a:t>Registam os diagnósticos que alimentam o modelo e veem a informação de risco dos utentes na consulta da informação clínica.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56631" y="5056632"/>
            <a:ext cx="118873" cy="0"/>
          </a:xfrm>
          <a:prstGeom prst="line">
            <a:avLst/>
          </a:prstGeom>
          <a:ln w="19050">
            <a:solidFill>
              <a:srgbClr val="D37A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366759" y="5056632"/>
            <a:ext cx="118873" cy="0"/>
          </a:xfrm>
          <a:prstGeom prst="line">
            <a:avLst/>
          </a:prstGeom>
          <a:ln w="19050">
            <a:solidFill>
              <a:srgbClr val="D37A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629107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66662"/>
                </a:solidFill>
                <a:latin typeface="Work Sans"/>
              </a:rPr>
              <a:t>Fontes: Despacho n.º 12986/2023, n.os 2, 5, 7 e 8 · Circular Normativa n.º 4/2024/ACSS, p. 9 · ACSS, Projeto de Operacionalização da ER no SNS – Síntese Final (2025), pp. 9–11 e 22–24.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000"/>
              <a:t>O ILER e a equipa local não são um balcão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4173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1">
                <a:solidFill>
                  <a:srgbClr val="566662"/>
                </a:solidFill>
                <a:latin typeface="Work Sans"/>
              </a:rPr>
              <a:t>«Compete ao ILER proceder à </a:t>
            </a:r>
            <a:r>
              <a:rPr sz="1150" b="1" i="1">
                <a:solidFill>
                  <a:srgbClr val="0F7A6B"/>
                </a:solidFill>
                <a:latin typeface="Work Sans"/>
              </a:rPr>
              <a:t>dinamização da utilização</a:t>
            </a:r>
            <a:r>
              <a:rPr sz="1150" b="0" i="1">
                <a:solidFill>
                  <a:srgbClr val="566662"/>
                </a:solidFill>
                <a:latin typeface="Work Sans"/>
              </a:rPr>
              <a:t> dos instrumentos de estratificação pelo risco em cada ULS»  — Circular Normativa n.º 4/2024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057400"/>
            <a:ext cx="2331720" cy="3246120"/>
          </a:xfrm>
          <a:prstGeom prst="rect">
            <a:avLst/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217627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566662"/>
                </a:solidFill>
                <a:latin typeface="Bricolage Grotesque"/>
              </a:rPr>
              <a:t>Não é só…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67004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37A22"/>
                </a:solidFill>
                <a:latin typeface="Work Sans"/>
              </a:rPr>
              <a:t>✕  </a:t>
            </a:r>
            <a:r>
              <a:rPr sz="1200" b="0" i="0" strike="sngStrike">
                <a:solidFill>
                  <a:srgbClr val="566662"/>
                </a:solidFill>
                <a:latin typeface="Work Sans"/>
              </a:rPr>
              <a:t>extrair listagens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236976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37A22"/>
                </a:solidFill>
                <a:latin typeface="Work Sans"/>
              </a:rPr>
              <a:t>✕  </a:t>
            </a:r>
            <a:r>
              <a:rPr sz="1200" b="0" i="0" strike="sngStrike">
                <a:solidFill>
                  <a:srgbClr val="566662"/>
                </a:solidFill>
                <a:latin typeface="Work Sans"/>
              </a:rPr>
              <a:t>enviar tabelas e gráficos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803904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D37A22"/>
                </a:solidFill>
                <a:latin typeface="Work Sans"/>
              </a:rPr>
              <a:t>✕  </a:t>
            </a:r>
            <a:r>
              <a:rPr sz="1200" b="0" i="0" strike="sngStrike">
                <a:solidFill>
                  <a:srgbClr val="566662"/>
                </a:solidFill>
                <a:latin typeface="Work Sans"/>
              </a:rPr>
              <a:t>responder a pedidos de dados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343400"/>
            <a:ext cx="2057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2332E"/>
                </a:solidFill>
                <a:latin typeface="Work Sans"/>
              </a:rPr>
              <a:t>Os dados são o ponto de partida, não o resultado.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71800" y="3675887"/>
            <a:ext cx="338328" cy="0"/>
          </a:xfrm>
          <a:prstGeom prst="line">
            <a:avLst/>
          </a:prstGeom>
          <a:ln w="31750">
            <a:solidFill>
              <a:srgbClr val="D37A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401568" y="2057400"/>
            <a:ext cx="158191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01568" y="2057400"/>
            <a:ext cx="1581912" cy="64008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38728" y="2240280"/>
            <a:ext cx="1307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F7A6B"/>
                </a:solidFill>
                <a:latin typeface="Bricolage Grotesqu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2743200"/>
            <a:ext cx="1307592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Formar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66662"/>
                </a:solidFill>
                <a:latin typeface="Work Sans"/>
              </a:rPr>
              <a:t>Formação contínua interna: CSP e hospital percebem a ER e o peso do registo na qualidade dos dados.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057400"/>
            <a:ext cx="158191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74920" y="2057400"/>
            <a:ext cx="1581912" cy="64008"/>
          </a:xfrm>
          <a:prstGeom prst="rect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12080" y="2240280"/>
            <a:ext cx="1307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7A22"/>
                </a:solidFill>
                <a:latin typeface="Bricolage Grotesque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743200"/>
            <a:ext cx="1307592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Melhorar registos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66662"/>
                </a:solidFill>
                <a:latin typeface="Work Sans"/>
              </a:rPr>
              <a:t>Auditoria e acompanhamento da codificação; apoio às unidades com menos registos.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8272" y="2057400"/>
            <a:ext cx="158191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48272" y="2057400"/>
            <a:ext cx="1581912" cy="64008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85432" y="2240280"/>
            <a:ext cx="1307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F7A6B"/>
                </a:solidFill>
                <a:latin typeface="Bricolage Grotesque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85432" y="2743200"/>
            <a:ext cx="1307592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Interpretar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66662"/>
                </a:solidFill>
                <a:latin typeface="Work Sans"/>
              </a:rPr>
              <a:t>Transformar o BI-ER em perguntas: quem são, onde estão e de que precisam os utentes de maior risco?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21624" y="2057400"/>
            <a:ext cx="158191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421624" y="2057400"/>
            <a:ext cx="1581912" cy="64008"/>
          </a:xfrm>
          <a:prstGeom prst="rect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58784" y="2240280"/>
            <a:ext cx="1307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D37A22"/>
                </a:solidFill>
                <a:latin typeface="Bricolage Grotesque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8784" y="2743200"/>
            <a:ext cx="1307592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Intervir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66662"/>
                </a:solidFill>
                <a:latin typeface="Work Sans"/>
              </a:rPr>
              <a:t>Gestão de casos complexos, polifarmácia, utentes muito frequentadores, urgências evitáveis, percursos integrados.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94976" y="2057400"/>
            <a:ext cx="1581912" cy="324612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094976" y="2057400"/>
            <a:ext cx="1581912" cy="64008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232136" y="2240280"/>
            <a:ext cx="130759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0F7A6B"/>
                </a:solidFill>
                <a:latin typeface="Bricolage Grotesque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32136" y="2743200"/>
            <a:ext cx="1307592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Avaliar e comunicar</a:t>
            </a:r>
          </a:p>
          <a:p>
            <a:pPr algn="l">
              <a:spcAft>
                <a:spcPts val="400"/>
              </a:spcAft>
            </a:pPr>
            <a:r>
              <a:rPr sz="1050" b="0" i="0">
                <a:solidFill>
                  <a:srgbClr val="566662"/>
                </a:solidFill>
                <a:latin typeface="Work Sans"/>
              </a:rPr>
              <a:t>Medir o efeito das intervenções e partilhar resultados na ULS e na RILER.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559552"/>
            <a:ext cx="1901952" cy="457200"/>
          </a:xfrm>
          <a:prstGeom prst="roundRect">
            <a:avLst>
              <a:gd name="adj" fmla="val 8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66928" y="5559552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566662"/>
                </a:solidFill>
                <a:latin typeface="Bricolage Grotesque"/>
              </a:rPr>
              <a:t>Dados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514600" y="5788152"/>
            <a:ext cx="283464" cy="0"/>
          </a:xfrm>
          <a:prstGeom prst="line">
            <a:avLst/>
          </a:prstGeom>
          <a:ln w="25400">
            <a:solidFill>
              <a:srgbClr val="D37A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843784" y="5559552"/>
            <a:ext cx="1901952" cy="457200"/>
          </a:xfrm>
          <a:prstGeom prst="roundRect">
            <a:avLst>
              <a:gd name="adj" fmla="val 8000"/>
            </a:avLst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43784" y="5559552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Bricolage Grotesque"/>
              </a:rPr>
              <a:t>Conhecimento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791456" y="5788152"/>
            <a:ext cx="283464" cy="0"/>
          </a:xfrm>
          <a:prstGeom prst="line">
            <a:avLst/>
          </a:prstGeom>
          <a:ln w="25400">
            <a:solidFill>
              <a:srgbClr val="D37A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120640" y="5559552"/>
            <a:ext cx="1901952" cy="457200"/>
          </a:xfrm>
          <a:prstGeom prst="roundRect">
            <a:avLst>
              <a:gd name="adj" fmla="val 8000"/>
            </a:avLst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20640" y="5559552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Bricolage Grotesque"/>
              </a:rPr>
              <a:t>Decisão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068312" y="5788152"/>
            <a:ext cx="283463" cy="0"/>
          </a:xfrm>
          <a:prstGeom prst="line">
            <a:avLst/>
          </a:prstGeom>
          <a:ln w="25400">
            <a:solidFill>
              <a:srgbClr val="D37A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7397496" y="5559552"/>
            <a:ext cx="1901952" cy="457200"/>
          </a:xfrm>
          <a:prstGeom prst="roundRect">
            <a:avLst>
              <a:gd name="adj" fmla="val 8000"/>
            </a:avLst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397496" y="5559552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Bricolage Grotesque"/>
              </a:rPr>
              <a:t>Ação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345168" y="5788152"/>
            <a:ext cx="283464" cy="0"/>
          </a:xfrm>
          <a:prstGeom prst="line">
            <a:avLst/>
          </a:prstGeom>
          <a:ln w="25400">
            <a:solidFill>
              <a:srgbClr val="D37A2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674352" y="5559552"/>
            <a:ext cx="1901952" cy="457200"/>
          </a:xfrm>
          <a:prstGeom prst="roundRect">
            <a:avLst>
              <a:gd name="adj" fmla="val 8000"/>
            </a:avLst>
          </a:prstGeom>
          <a:solidFill>
            <a:srgbClr val="12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74352" y="5559552"/>
            <a:ext cx="190195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Bricolage Grotesque"/>
              </a:rPr>
              <a:t>Ganhos em saúde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6291072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>
                <a:solidFill>
                  <a:srgbClr val="566662"/>
                </a:solidFill>
                <a:latin typeface="Work Sans"/>
              </a:rPr>
              <a:t>Fontes: Circular Normativa n.º 4/2024/ACSS, p. 9 · ACSS, Projeto de Operacionalização da ER no SNS – Síntese Final (2025), Figura 20 «Exemplos de conteúdos dos Planos de Ação Locais» e p. 24 (numeração impressa).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000"/>
              <a:t>Saúde Pública: a lente populacional da estratificação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55448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F7A6B"/>
                </a:solidFill>
                <a:latin typeface="Bricolage Grotesque"/>
              </a:rPr>
              <a:t>O que a lei atribui à Saúde Pública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993392"/>
            <a:ext cx="51206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1993392"/>
            <a:ext cx="64008" cy="1143000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" y="2066544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Unidade de Saúde Pública</a:t>
            </a:r>
          </a:p>
          <a:p>
            <a:pPr algn="l">
              <a:spcAft>
                <a:spcPts val="200"/>
              </a:spcAft>
            </a:pPr>
            <a:r>
              <a:rPr sz="1019" b="0" i="0">
                <a:solidFill>
                  <a:srgbClr val="566662"/>
                </a:solidFill>
                <a:latin typeface="Work Sans"/>
              </a:rPr>
              <a:t>Identifica necessidades de saúde, monitoriza o estado de saúde da população e os seus determinantes e avalia o impacte das intervenções.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0F7A6B"/>
                </a:solidFill>
                <a:latin typeface="Work Sans"/>
              </a:rPr>
              <a:t>DL 81/2009, art. 3.º · Estatuto do SNS, art. 12.º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3227832"/>
            <a:ext cx="51206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3227832"/>
            <a:ext cx="64008" cy="1143000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3300984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Médico de saúde pública</a:t>
            </a:r>
          </a:p>
          <a:p>
            <a:pPr algn="l">
              <a:spcAft>
                <a:spcPts val="200"/>
              </a:spcAft>
            </a:pPr>
            <a:r>
              <a:rPr sz="1019" b="0" i="0">
                <a:solidFill>
                  <a:srgbClr val="566662"/>
                </a:solidFill>
                <a:latin typeface="Work Sans"/>
              </a:rPr>
              <a:t>Integra a USP, que produz informação e planos de saúde, faz vigilância epidemiológica e gere programas de prevenção, promoção e proteção da saúde da população e de grupos específicos.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0F7A6B"/>
                </a:solidFill>
                <a:latin typeface="Work Sans"/>
              </a:rPr>
              <a:t>Estatuto do SNS (DL 52/2022), art. 38.º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462272"/>
            <a:ext cx="51206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3DD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6928" y="4462272"/>
            <a:ext cx="64008" cy="1143000"/>
          </a:xfrm>
          <a:prstGeom prst="rect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" y="4535424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2332E"/>
                </a:solidFill>
                <a:latin typeface="Bricolage Grotesque"/>
              </a:rPr>
              <a:t>Autoridade de saúde</a:t>
            </a:r>
          </a:p>
          <a:p>
            <a:pPr algn="l">
              <a:spcAft>
                <a:spcPts val="200"/>
              </a:spcAft>
            </a:pPr>
            <a:r>
              <a:rPr sz="1019" b="0" i="0">
                <a:solidFill>
                  <a:srgbClr val="566662"/>
                </a:solidFill>
                <a:latin typeface="Work Sans"/>
              </a:rPr>
              <a:t>Decide a intervenção do Estado na defesa da saúde pública, na prevenção da doença e no controlo de fatores de risco. O delegado de saúde-coordenador está sediado na USP da ULS.</a:t>
            </a:r>
          </a:p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0F7A6B"/>
                </a:solidFill>
                <a:latin typeface="Work Sans"/>
              </a:rPr>
              <a:t>DL 82/2009, alterado pelo DL 54/2024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554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D37A22"/>
                </a:solidFill>
                <a:latin typeface="Bricolage Grotesque"/>
              </a:rPr>
              <a:t>O que traz à estratificação pelo risco</a:t>
            </a:r>
          </a:p>
        </p:txBody>
      </p:sp>
      <p:sp>
        <p:nvSpPr>
          <p:cNvPr id="14" name="Oval 13"/>
          <p:cNvSpPr/>
          <p:nvPr/>
        </p:nvSpPr>
        <p:spPr>
          <a:xfrm>
            <a:off x="6080760" y="2029968"/>
            <a:ext cx="384048" cy="384048"/>
          </a:xfrm>
          <a:prstGeom prst="ellipse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202996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180676"/>
            <a:ext cx="498348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12332E"/>
                </a:solidFill>
                <a:latin typeface="Bricolage Grotesque"/>
              </a:rPr>
              <a:t>Toda a população</a:t>
            </a:r>
            <a:endParaRPr sz="1050" b="0" i="0" dirty="0">
              <a:solidFill>
                <a:srgbClr val="566662"/>
              </a:solidFill>
              <a:latin typeface="Work San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6080760" y="2619756"/>
            <a:ext cx="384048" cy="384048"/>
          </a:xfrm>
          <a:prstGeom prst="ellipse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60" y="261975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770463"/>
            <a:ext cx="498348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12332E"/>
                </a:solidFill>
                <a:latin typeface="Bricolage Grotesque"/>
              </a:rPr>
              <a:t>Ponte CSP–hospital</a:t>
            </a:r>
            <a:endParaRPr sz="1050" b="0" i="0" dirty="0">
              <a:solidFill>
                <a:srgbClr val="566662"/>
              </a:solidFill>
              <a:latin typeface="Work San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080760" y="3209544"/>
            <a:ext cx="384048" cy="384048"/>
          </a:xfrm>
          <a:prstGeom prst="ellipse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32095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360252"/>
            <a:ext cx="498348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>
                <a:solidFill>
                  <a:srgbClr val="12332E"/>
                </a:solidFill>
                <a:latin typeface="Bricolage Grotesque"/>
              </a:rPr>
              <a:t>Rigor </a:t>
            </a:r>
            <a:r>
              <a:rPr sz="1250" b="1" i="0" dirty="0" err="1">
                <a:solidFill>
                  <a:srgbClr val="12332E"/>
                </a:solidFill>
                <a:latin typeface="Bricolage Grotesque"/>
              </a:rPr>
              <a:t>epidemiológico</a:t>
            </a:r>
            <a:endParaRPr sz="1050" b="0" i="0" dirty="0">
              <a:solidFill>
                <a:srgbClr val="566662"/>
              </a:solidFill>
              <a:latin typeface="Work San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080760" y="3799332"/>
            <a:ext cx="384048" cy="384048"/>
          </a:xfrm>
          <a:prstGeom prst="ellipse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080760" y="37993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3762756"/>
            <a:ext cx="4983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>
                <a:solidFill>
                  <a:srgbClr val="12332E"/>
                </a:solidFill>
                <a:latin typeface="Bricolage Grotesque"/>
              </a:rPr>
              <a:t>Para lá do indivíduo  </a:t>
            </a:r>
            <a:r>
              <a:rPr sz="1050" b="0" i="0">
                <a:solidFill>
                  <a:srgbClr val="566662"/>
                </a:solidFill>
                <a:latin typeface="Work Sans"/>
              </a:rPr>
              <a:t>liga o risco aos determinantes sociais, ambientais e comportamentais.</a:t>
            </a:r>
          </a:p>
        </p:txBody>
      </p:sp>
      <p:sp>
        <p:nvSpPr>
          <p:cNvPr id="26" name="Oval 25"/>
          <p:cNvSpPr/>
          <p:nvPr/>
        </p:nvSpPr>
        <p:spPr>
          <a:xfrm>
            <a:off x="6080760" y="4389120"/>
            <a:ext cx="384048" cy="384048"/>
          </a:xfrm>
          <a:prstGeom prst="ellipse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80760" y="438912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1968" y="4459036"/>
            <a:ext cx="4983480" cy="3539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 err="1">
                <a:solidFill>
                  <a:srgbClr val="12332E"/>
                </a:solidFill>
                <a:latin typeface="Bricolage Grotesque"/>
              </a:rPr>
              <a:t>Planear</a:t>
            </a:r>
            <a:r>
              <a:rPr sz="1250" b="1" i="0" dirty="0">
                <a:solidFill>
                  <a:srgbClr val="12332E"/>
                </a:solidFill>
                <a:latin typeface="Bricolage Grotesque"/>
              </a:rPr>
              <a:t> e </a:t>
            </a:r>
            <a:r>
              <a:rPr sz="1250" b="1" i="0" dirty="0" err="1">
                <a:solidFill>
                  <a:srgbClr val="12332E"/>
                </a:solidFill>
                <a:latin typeface="Bricolage Grotesque"/>
              </a:rPr>
              <a:t>avaliar</a:t>
            </a:r>
            <a:r>
              <a:rPr sz="1250" b="1" i="0" dirty="0">
                <a:solidFill>
                  <a:srgbClr val="12332E"/>
                </a:solidFill>
                <a:latin typeface="Bricolage Grotesque"/>
              </a:rPr>
              <a:t>  </a:t>
            </a:r>
            <a:r>
              <a:rPr sz="1050" b="0" i="0" dirty="0">
                <a:solidFill>
                  <a:srgbClr val="566662"/>
                </a:solidFill>
                <a:latin typeface="Work Sans"/>
              </a:rPr>
              <a:t>integra a ER no </a:t>
            </a:r>
            <a:r>
              <a:rPr sz="1050" b="0" i="0" dirty="0" err="1">
                <a:solidFill>
                  <a:srgbClr val="566662"/>
                </a:solidFill>
                <a:latin typeface="Work Sans"/>
              </a:rPr>
              <a:t>diagnóstico</a:t>
            </a:r>
            <a:r>
              <a:rPr sz="1050" b="0" i="0" dirty="0">
                <a:solidFill>
                  <a:srgbClr val="566662"/>
                </a:solidFill>
                <a:latin typeface="Work Sans"/>
              </a:rPr>
              <a:t> de saúde e no Plano Local de Saúde e </a:t>
            </a:r>
            <a:r>
              <a:rPr sz="1050" b="0" i="0" dirty="0" err="1">
                <a:solidFill>
                  <a:srgbClr val="566662"/>
                </a:solidFill>
                <a:latin typeface="Work Sans"/>
              </a:rPr>
              <a:t>mede</a:t>
            </a:r>
            <a:r>
              <a:rPr sz="1050" b="0" i="0" dirty="0">
                <a:solidFill>
                  <a:srgbClr val="566662"/>
                </a:solidFill>
                <a:latin typeface="Work Sans"/>
              </a:rPr>
              <a:t> o </a:t>
            </a:r>
            <a:r>
              <a:rPr sz="1050" b="0" i="0" dirty="0" err="1">
                <a:solidFill>
                  <a:srgbClr val="566662"/>
                </a:solidFill>
                <a:latin typeface="Work Sans"/>
              </a:rPr>
              <a:t>impact</a:t>
            </a:r>
            <a:r>
              <a:rPr lang="en-US" sz="1050" b="0" i="0" dirty="0" err="1">
                <a:solidFill>
                  <a:srgbClr val="566662"/>
                </a:solidFill>
                <a:latin typeface="Work Sans"/>
              </a:rPr>
              <a:t>o</a:t>
            </a:r>
            <a:r>
              <a:rPr sz="1050" b="0" i="0" dirty="0">
                <a:solidFill>
                  <a:srgbClr val="566662"/>
                </a:solidFill>
                <a:latin typeface="Work Sans"/>
              </a:rPr>
              <a:t>.</a:t>
            </a:r>
          </a:p>
        </p:txBody>
      </p:sp>
      <p:sp>
        <p:nvSpPr>
          <p:cNvPr id="29" name="Oval 28"/>
          <p:cNvSpPr/>
          <p:nvPr/>
        </p:nvSpPr>
        <p:spPr>
          <a:xfrm>
            <a:off x="6080760" y="4978907"/>
            <a:ext cx="384048" cy="384048"/>
          </a:xfrm>
          <a:prstGeom prst="ellipse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080760" y="497890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01968" y="4942331"/>
            <a:ext cx="49834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dirty="0" err="1">
                <a:solidFill>
                  <a:srgbClr val="12332E"/>
                </a:solidFill>
                <a:latin typeface="Bricolage Grotesque"/>
              </a:rPr>
              <a:t>Comunidade</a:t>
            </a:r>
            <a:r>
              <a:rPr sz="1250" b="1" i="0" dirty="0">
                <a:solidFill>
                  <a:srgbClr val="12332E"/>
                </a:solidFill>
                <a:latin typeface="Bricolage Grotesque"/>
              </a:rPr>
              <a:t>  </a:t>
            </a:r>
            <a:r>
              <a:rPr sz="1050" b="0" i="0" dirty="0" err="1">
                <a:solidFill>
                  <a:srgbClr val="566662"/>
                </a:solidFill>
                <a:latin typeface="Work Sans"/>
              </a:rPr>
              <a:t>articula</a:t>
            </a:r>
            <a:r>
              <a:rPr sz="1050" b="0" i="0" dirty="0">
                <a:solidFill>
                  <a:srgbClr val="566662"/>
                </a:solidFill>
                <a:latin typeface="Work Sans"/>
              </a:rPr>
              <a:t> com </a:t>
            </a:r>
            <a:r>
              <a:rPr sz="1050" b="0" i="0" dirty="0" err="1">
                <a:solidFill>
                  <a:srgbClr val="566662"/>
                </a:solidFill>
                <a:latin typeface="Work Sans"/>
              </a:rPr>
              <a:t>municípios</a:t>
            </a:r>
            <a:r>
              <a:rPr sz="1050" b="0" i="0" dirty="0">
                <a:solidFill>
                  <a:srgbClr val="566662"/>
                </a:solidFill>
                <a:latin typeface="Work Sans"/>
              </a:rPr>
              <a:t>, </a:t>
            </a:r>
            <a:r>
              <a:rPr sz="1050" b="0" i="0" dirty="0" err="1">
                <a:solidFill>
                  <a:srgbClr val="566662"/>
                </a:solidFill>
                <a:latin typeface="Work Sans"/>
              </a:rPr>
              <a:t>setor</a:t>
            </a:r>
            <a:r>
              <a:rPr sz="1050" b="0" i="0" dirty="0">
                <a:solidFill>
                  <a:srgbClr val="566662"/>
                </a:solidFill>
                <a:latin typeface="Work Sans"/>
              </a:rPr>
              <a:t> social e </a:t>
            </a:r>
            <a:r>
              <a:rPr sz="1050" b="0" i="0" dirty="0" err="1">
                <a:solidFill>
                  <a:srgbClr val="566662"/>
                </a:solidFill>
                <a:latin typeface="Work Sans"/>
              </a:rPr>
              <a:t>escolas</a:t>
            </a:r>
            <a:r>
              <a:rPr sz="1050" b="0" i="0" dirty="0">
                <a:solidFill>
                  <a:srgbClr val="566662"/>
                </a:solidFill>
                <a:latin typeface="Work Sans"/>
              </a:rPr>
              <a:t> para </a:t>
            </a:r>
            <a:r>
              <a:rPr sz="1050" b="0" i="0" dirty="0" err="1">
                <a:solidFill>
                  <a:srgbClr val="566662"/>
                </a:solidFill>
                <a:latin typeface="Work Sans"/>
              </a:rPr>
              <a:t>agir</a:t>
            </a:r>
            <a:r>
              <a:rPr sz="1050" b="0" i="0" dirty="0">
                <a:solidFill>
                  <a:srgbClr val="566662"/>
                </a:solidFill>
                <a:latin typeface="Work Sans"/>
              </a:rPr>
              <a:t> </a:t>
            </a:r>
            <a:r>
              <a:rPr sz="1050" b="0" i="0" dirty="0" err="1">
                <a:solidFill>
                  <a:srgbClr val="566662"/>
                </a:solidFill>
                <a:latin typeface="Work Sans"/>
              </a:rPr>
              <a:t>onde</a:t>
            </a:r>
            <a:r>
              <a:rPr sz="1050" b="0" i="0" dirty="0">
                <a:solidFill>
                  <a:srgbClr val="566662"/>
                </a:solidFill>
                <a:latin typeface="Work Sans"/>
              </a:rPr>
              <a:t> o risco </a:t>
            </a:r>
            <a:r>
              <a:rPr sz="1050" b="0" i="0" dirty="0" err="1">
                <a:solidFill>
                  <a:srgbClr val="566662"/>
                </a:solidFill>
                <a:latin typeface="Work Sans"/>
              </a:rPr>
              <a:t>nasce</a:t>
            </a:r>
            <a:r>
              <a:rPr sz="1050" b="0" i="0" dirty="0">
                <a:solidFill>
                  <a:srgbClr val="566662"/>
                </a:solidFill>
                <a:latin typeface="Work Sans"/>
              </a:rPr>
              <a:t>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815584"/>
            <a:ext cx="11018520" cy="475488"/>
          </a:xfrm>
          <a:prstGeom prst="rect">
            <a:avLst/>
          </a:prstGeom>
          <a:solidFill>
            <a:srgbClr val="12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" y="5815584"/>
            <a:ext cx="106070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Bricolage Grotesque"/>
              </a:rPr>
              <a:t>Por isso, a Saúde Pública deve estar nas Equipas Locais de ER </a:t>
            </a:r>
            <a:r>
              <a:rPr sz="1200" b="0" i="0">
                <a:solidFill>
                  <a:srgbClr val="F0B070"/>
                </a:solidFill>
                <a:latin typeface="Work Sans"/>
              </a:rPr>
              <a:t>— como já acontece em algumas ULS.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ção do Texto 6">
            <a:extLst>
              <a:ext uri="{FF2B5EF4-FFF2-40B4-BE49-F238E27FC236}">
                <a16:creationId xmlns:a16="http://schemas.microsoft.com/office/drawing/2014/main" id="{FFD5271F-A5EC-95E1-9451-85CA11228567}"/>
              </a:ext>
            </a:extLst>
          </p:cNvPr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lang="en-US" dirty="0"/>
              <a:t>03</a:t>
            </a:r>
            <a:endParaRPr lang="pt-PT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9F9003F6-ECA6-CC07-B271-54193CE55373}"/>
              </a:ext>
            </a:extLst>
          </p:cNvPr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rPr lang="pt-PT" dirty="0"/>
              <a:t>O Processo</a:t>
            </a:r>
          </a:p>
        </p:txBody>
      </p:sp>
    </p:spTree>
    <p:extLst>
      <p:ext uri="{BB962C8B-B14F-4D97-AF65-F5344CB8AC3E}">
        <p14:creationId xmlns:p14="http://schemas.microsoft.com/office/powerpoint/2010/main" val="233009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A8239CD-5628-D889-25B1-2E5BC4AFEBE8}"/>
              </a:ext>
            </a:extLst>
          </p:cNvPr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lang="en-US" dirty="0">
                <a:solidFill>
                  <a:srgbClr val="12332E"/>
                </a:solidFill>
              </a:rPr>
              <a:t>Do </a:t>
            </a:r>
            <a:r>
              <a:rPr lang="en-US" dirty="0" err="1">
                <a:solidFill>
                  <a:srgbClr val="12332E"/>
                </a:solidFill>
              </a:rPr>
              <a:t>registo</a:t>
            </a:r>
            <a:r>
              <a:rPr lang="en-US" dirty="0">
                <a:solidFill>
                  <a:srgbClr val="12332E"/>
                </a:solidFill>
              </a:rPr>
              <a:t> </a:t>
            </a:r>
            <a:r>
              <a:rPr lang="en-US" dirty="0" err="1">
                <a:solidFill>
                  <a:srgbClr val="12332E"/>
                </a:solidFill>
              </a:rPr>
              <a:t>clínico</a:t>
            </a:r>
            <a:r>
              <a:rPr lang="en-US" dirty="0">
                <a:solidFill>
                  <a:srgbClr val="12332E"/>
                </a:solidFill>
              </a:rPr>
              <a:t> </a:t>
            </a:r>
            <a:r>
              <a:rPr lang="en-US" dirty="0" err="1">
                <a:solidFill>
                  <a:srgbClr val="12332E"/>
                </a:solidFill>
              </a:rPr>
              <a:t>ao</a:t>
            </a:r>
            <a:r>
              <a:rPr lang="en-US" dirty="0">
                <a:solidFill>
                  <a:srgbClr val="12332E"/>
                </a:solidFill>
              </a:rPr>
              <a:t> </a:t>
            </a:r>
            <a:r>
              <a:rPr lang="en-US" dirty="0" err="1">
                <a:solidFill>
                  <a:srgbClr val="12332E"/>
                </a:solidFill>
              </a:rPr>
              <a:t>indicador</a:t>
            </a:r>
            <a:r>
              <a:rPr lang="en-US" dirty="0">
                <a:solidFill>
                  <a:srgbClr val="12332E"/>
                </a:solidFill>
              </a:rPr>
              <a:t> </a:t>
            </a:r>
            <a:r>
              <a:rPr lang="en-US" dirty="0" err="1">
                <a:solidFill>
                  <a:srgbClr val="12332E"/>
                </a:solidFill>
              </a:rPr>
              <a:t>por</a:t>
            </a:r>
            <a:r>
              <a:rPr lang="en-US" dirty="0">
                <a:solidFill>
                  <a:srgbClr val="12332E"/>
                </a:solidFill>
              </a:rPr>
              <a:t> </a:t>
            </a:r>
            <a:r>
              <a:rPr lang="en-US" dirty="0" err="1">
                <a:solidFill>
                  <a:srgbClr val="12332E"/>
                </a:solidFill>
              </a:rPr>
              <a:t>utente</a:t>
            </a:r>
            <a:endParaRPr lang="pt-PT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55ED7D74-15B6-1812-8DD5-00F6CD8D6E4D}"/>
              </a:ext>
            </a:extLst>
          </p:cNvPr>
          <p:cNvSpPr/>
          <p:nvPr/>
        </p:nvSpPr>
        <p:spPr>
          <a:xfrm>
            <a:off x="508000" y="1422400"/>
            <a:ext cx="11176000" cy="0"/>
          </a:xfrm>
          <a:prstGeom prst="line">
            <a:avLst/>
          </a:prstGeom>
          <a:noFill/>
          <a:ln w="9525">
            <a:solidFill>
              <a:srgbClr val="D3DDD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7C8EBA8F-FC8E-B7C7-BD84-7544417E070C}"/>
              </a:ext>
            </a:extLst>
          </p:cNvPr>
          <p:cNvSpPr/>
          <p:nvPr/>
        </p:nvSpPr>
        <p:spPr>
          <a:xfrm>
            <a:off x="508000" y="1587500"/>
            <a:ext cx="3556000" cy="2273300"/>
          </a:xfrm>
          <a:prstGeom prst="roundRect">
            <a:avLst>
              <a:gd name="adj" fmla="val 5028"/>
            </a:avLst>
          </a:prstGeom>
          <a:solidFill>
            <a:srgbClr val="FFFFFF"/>
          </a:solidFill>
          <a:ln w="9525">
            <a:solidFill>
              <a:srgbClr val="D3DDD8"/>
            </a:solidFill>
            <a:prstDash val="solid"/>
          </a:ln>
          <a:effectLst>
            <a:outerShdw blurRad="76200" dist="38100" dir="5400000" algn="bl" rotWithShape="0">
              <a:srgbClr val="8FA39D">
                <a:alpha val="4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355AE66D-0E75-4224-A087-8080B38B465F}"/>
              </a:ext>
            </a:extLst>
          </p:cNvPr>
          <p:cNvSpPr/>
          <p:nvPr/>
        </p:nvSpPr>
        <p:spPr>
          <a:xfrm>
            <a:off x="508000" y="1587500"/>
            <a:ext cx="3556000" cy="44450"/>
          </a:xfrm>
          <a:prstGeom prst="roundRect">
            <a:avLst>
              <a:gd name="adj" fmla="val 61714"/>
            </a:avLst>
          </a:prstGeom>
          <a:solidFill>
            <a:srgbClr val="0F7A6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23E11BB0-D513-7975-E06D-F5BFAEEA8878}"/>
              </a:ext>
            </a:extLst>
          </p:cNvPr>
          <p:cNvSpPr txBox="1"/>
          <p:nvPr/>
        </p:nvSpPr>
        <p:spPr>
          <a:xfrm>
            <a:off x="723900" y="1727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37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26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7C153E09-47AE-AC6B-F15A-3CD888B1F696}"/>
              </a:ext>
            </a:extLst>
          </p:cNvPr>
          <p:cNvSpPr txBox="1"/>
          <p:nvPr/>
        </p:nvSpPr>
        <p:spPr>
          <a:xfrm>
            <a:off x="1308100" y="1816100"/>
            <a:ext cx="1280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CED8D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ETAPA</a:t>
            </a:r>
            <a:endParaRPr lang="en-US" sz="7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36D7F08C-0D95-4CDD-8B20-9D366F3B8008}"/>
              </a:ext>
            </a:extLst>
          </p:cNvPr>
          <p:cNvSpPr txBox="1"/>
          <p:nvPr/>
        </p:nvSpPr>
        <p:spPr>
          <a:xfrm>
            <a:off x="723900" y="2247900"/>
            <a:ext cx="3124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32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Registo clínico na origem</a:t>
            </a:r>
            <a:endParaRPr lang="en-US" sz="135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E97F8B7D-F67E-80E8-68F3-DF70AD06E789}"/>
              </a:ext>
            </a:extLst>
          </p:cNvPr>
          <p:cNvSpPr/>
          <p:nvPr/>
        </p:nvSpPr>
        <p:spPr>
          <a:xfrm>
            <a:off x="723900" y="2527300"/>
            <a:ext cx="292100" cy="0"/>
          </a:xfrm>
          <a:prstGeom prst="line">
            <a:avLst/>
          </a:prstGeom>
          <a:noFill/>
          <a:ln w="19050">
            <a:solidFill>
              <a:srgbClr val="D37A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0658C6D3-5452-DA2E-8D92-24092D1F6D26}"/>
              </a:ext>
            </a:extLst>
          </p:cNvPr>
          <p:cNvSpPr txBox="1"/>
          <p:nvPr/>
        </p:nvSpPr>
        <p:spPr>
          <a:xfrm>
            <a:off x="723900" y="2641600"/>
            <a:ext cx="312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56666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Cada contacto com o SNS é registado com um diagnóstico codificado.</a:t>
            </a:r>
            <a:endParaRPr lang="en-US" sz="95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94ABBBE2-5170-F756-1454-0ECACAF80C13}"/>
              </a:ext>
            </a:extLst>
          </p:cNvPr>
          <p:cNvSpPr/>
          <p:nvPr/>
        </p:nvSpPr>
        <p:spPr>
          <a:xfrm>
            <a:off x="723900" y="3429000"/>
            <a:ext cx="1494130" cy="266700"/>
          </a:xfrm>
          <a:prstGeom prst="roundRect">
            <a:avLst>
              <a:gd name="adj" fmla="val 50000"/>
            </a:avLst>
          </a:prstGeom>
          <a:solidFill>
            <a:srgbClr val="E0EEE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6B27190F-8728-2A58-9042-F5C15BBB7FA6}"/>
              </a:ext>
            </a:extLst>
          </p:cNvPr>
          <p:cNvSpPr txBox="1"/>
          <p:nvPr/>
        </p:nvSpPr>
        <p:spPr>
          <a:xfrm>
            <a:off x="850900" y="3429000"/>
            <a:ext cx="14941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75" dirty="0">
                <a:solidFill>
                  <a:srgbClr val="0F7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ICPC-2E  ·  ICD-10-CM</a:t>
            </a:r>
            <a:endParaRPr lang="en-US" sz="775" dirty="0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706CD0C7-154E-5C38-AF56-8C954630FB78}"/>
              </a:ext>
            </a:extLst>
          </p:cNvPr>
          <p:cNvSpPr/>
          <p:nvPr/>
        </p:nvSpPr>
        <p:spPr>
          <a:xfrm>
            <a:off x="4318000" y="1587500"/>
            <a:ext cx="3556000" cy="2273300"/>
          </a:xfrm>
          <a:prstGeom prst="roundRect">
            <a:avLst>
              <a:gd name="adj" fmla="val 5028"/>
            </a:avLst>
          </a:prstGeom>
          <a:solidFill>
            <a:srgbClr val="FFFFFF"/>
          </a:solidFill>
          <a:ln w="9525">
            <a:solidFill>
              <a:srgbClr val="D3DDD8"/>
            </a:solidFill>
            <a:prstDash val="solid"/>
          </a:ln>
          <a:effectLst>
            <a:outerShdw blurRad="76200" dist="38100" dir="5400000" algn="bl" rotWithShape="0">
              <a:srgbClr val="8FA39D">
                <a:alpha val="4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0AB5A742-5438-49AC-214F-9F4FF1A12450}"/>
              </a:ext>
            </a:extLst>
          </p:cNvPr>
          <p:cNvSpPr/>
          <p:nvPr/>
        </p:nvSpPr>
        <p:spPr>
          <a:xfrm>
            <a:off x="4318000" y="1587500"/>
            <a:ext cx="3556000" cy="44450"/>
          </a:xfrm>
          <a:prstGeom prst="roundRect">
            <a:avLst>
              <a:gd name="adj" fmla="val 61714"/>
            </a:avLst>
          </a:prstGeom>
          <a:solidFill>
            <a:srgbClr val="0F7A6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A3C88414-BB53-43CE-5797-072895FF6C04}"/>
              </a:ext>
            </a:extLst>
          </p:cNvPr>
          <p:cNvSpPr txBox="1"/>
          <p:nvPr/>
        </p:nvSpPr>
        <p:spPr>
          <a:xfrm>
            <a:off x="4533900" y="1727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37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260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EAF58D9D-192D-9B6B-C0B9-0BEFA47EB1D9}"/>
              </a:ext>
            </a:extLst>
          </p:cNvPr>
          <p:cNvSpPr txBox="1"/>
          <p:nvPr/>
        </p:nvSpPr>
        <p:spPr>
          <a:xfrm>
            <a:off x="5118100" y="1816100"/>
            <a:ext cx="1280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CED8D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ETAPA</a:t>
            </a:r>
            <a:endParaRPr lang="en-US" sz="700" dirty="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AAEB6D5B-C9D5-8BDB-43F6-6991272824D3}"/>
              </a:ext>
            </a:extLst>
          </p:cNvPr>
          <p:cNvSpPr txBox="1"/>
          <p:nvPr/>
        </p:nvSpPr>
        <p:spPr>
          <a:xfrm>
            <a:off x="4533900" y="2247900"/>
            <a:ext cx="3124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32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Agregação central e custos</a:t>
            </a:r>
            <a:endParaRPr lang="en-US" sz="1350" dirty="0"/>
          </a:p>
        </p:txBody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A698934A-4211-65B8-8142-DBAD096569DB}"/>
              </a:ext>
            </a:extLst>
          </p:cNvPr>
          <p:cNvSpPr/>
          <p:nvPr/>
        </p:nvSpPr>
        <p:spPr>
          <a:xfrm>
            <a:off x="4533900" y="2527300"/>
            <a:ext cx="292100" cy="0"/>
          </a:xfrm>
          <a:prstGeom prst="line">
            <a:avLst/>
          </a:prstGeom>
          <a:noFill/>
          <a:ln w="19050">
            <a:solidFill>
              <a:srgbClr val="D37A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183ADEF2-C481-BD62-B0CE-6F3D5CD294B2}"/>
              </a:ext>
            </a:extLst>
          </p:cNvPr>
          <p:cNvSpPr txBox="1"/>
          <p:nvPr/>
        </p:nvSpPr>
        <p:spPr>
          <a:xfrm>
            <a:off x="4533900" y="2641600"/>
            <a:ext cx="312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56666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Os dados são reunidos em fontes centrais e é imputado um custo a cada contacto.</a:t>
            </a:r>
            <a:endParaRPr lang="en-US" sz="950" dirty="0"/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888633C3-FEE5-2E24-F74E-51A107014CA6}"/>
              </a:ext>
            </a:extLst>
          </p:cNvPr>
          <p:cNvSpPr/>
          <p:nvPr/>
        </p:nvSpPr>
        <p:spPr>
          <a:xfrm>
            <a:off x="4533900" y="3429000"/>
            <a:ext cx="1198870" cy="266700"/>
          </a:xfrm>
          <a:prstGeom prst="roundRect">
            <a:avLst>
              <a:gd name="adj" fmla="val 50000"/>
            </a:avLst>
          </a:prstGeom>
          <a:solidFill>
            <a:srgbClr val="E0EEE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95C3E571-3C49-9F2F-9EA8-52DCF4EB9DF8}"/>
              </a:ext>
            </a:extLst>
          </p:cNvPr>
          <p:cNvSpPr txBox="1"/>
          <p:nvPr/>
        </p:nvSpPr>
        <p:spPr>
          <a:xfrm>
            <a:off x="4660900" y="3429000"/>
            <a:ext cx="11988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75" dirty="0">
                <a:solidFill>
                  <a:srgbClr val="0F7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SIM@SNS  ·  BDMH</a:t>
            </a:r>
            <a:endParaRPr lang="en-US" sz="775" dirty="0"/>
          </a:p>
        </p:txBody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D0044796-B74E-E358-F854-0E6215018C09}"/>
              </a:ext>
            </a:extLst>
          </p:cNvPr>
          <p:cNvSpPr/>
          <p:nvPr/>
        </p:nvSpPr>
        <p:spPr>
          <a:xfrm>
            <a:off x="8128000" y="1587500"/>
            <a:ext cx="3556000" cy="2273300"/>
          </a:xfrm>
          <a:prstGeom prst="roundRect">
            <a:avLst>
              <a:gd name="adj" fmla="val 5028"/>
            </a:avLst>
          </a:prstGeom>
          <a:solidFill>
            <a:srgbClr val="FFFFFF"/>
          </a:solidFill>
          <a:ln w="9525">
            <a:solidFill>
              <a:srgbClr val="D3DDD8"/>
            </a:solidFill>
            <a:prstDash val="solid"/>
          </a:ln>
          <a:effectLst>
            <a:outerShdw blurRad="76200" dist="38100" dir="5400000" algn="bl" rotWithShape="0">
              <a:srgbClr val="8FA39D">
                <a:alpha val="4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2" name="Shape 24">
            <a:extLst>
              <a:ext uri="{FF2B5EF4-FFF2-40B4-BE49-F238E27FC236}">
                <a16:creationId xmlns:a16="http://schemas.microsoft.com/office/drawing/2014/main" id="{207945AF-E6B5-1D9A-213A-344CA21B8092}"/>
              </a:ext>
            </a:extLst>
          </p:cNvPr>
          <p:cNvSpPr/>
          <p:nvPr/>
        </p:nvSpPr>
        <p:spPr>
          <a:xfrm>
            <a:off x="8128000" y="1587500"/>
            <a:ext cx="3556000" cy="44450"/>
          </a:xfrm>
          <a:prstGeom prst="roundRect">
            <a:avLst>
              <a:gd name="adj" fmla="val 61714"/>
            </a:avLst>
          </a:prstGeom>
          <a:solidFill>
            <a:srgbClr val="0F7A6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461F4822-BF5F-4C6D-2E88-98DB572CA5E3}"/>
              </a:ext>
            </a:extLst>
          </p:cNvPr>
          <p:cNvSpPr txBox="1"/>
          <p:nvPr/>
        </p:nvSpPr>
        <p:spPr>
          <a:xfrm>
            <a:off x="8343900" y="17272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37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2600" dirty="0"/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F86F0727-8B67-2848-1BCA-E66DA48D67EB}"/>
              </a:ext>
            </a:extLst>
          </p:cNvPr>
          <p:cNvSpPr txBox="1"/>
          <p:nvPr/>
        </p:nvSpPr>
        <p:spPr>
          <a:xfrm>
            <a:off x="8928100" y="1816100"/>
            <a:ext cx="1280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CED8D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ETAPA</a:t>
            </a:r>
            <a:endParaRPr lang="en-US" sz="700" dirty="0"/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65CF9782-92C8-9C56-107A-8D2A7C55DCCB}"/>
              </a:ext>
            </a:extLst>
          </p:cNvPr>
          <p:cNvSpPr txBox="1"/>
          <p:nvPr/>
        </p:nvSpPr>
        <p:spPr>
          <a:xfrm>
            <a:off x="8343900" y="2247900"/>
            <a:ext cx="3124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32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População e janela temporal</a:t>
            </a:r>
            <a:endParaRPr lang="en-US" sz="1350" dirty="0"/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1D84E6E4-69B1-B00A-5809-1F79A06A1CD2}"/>
              </a:ext>
            </a:extLst>
          </p:cNvPr>
          <p:cNvSpPr/>
          <p:nvPr/>
        </p:nvSpPr>
        <p:spPr>
          <a:xfrm>
            <a:off x="8343900" y="2527300"/>
            <a:ext cx="292100" cy="0"/>
          </a:xfrm>
          <a:prstGeom prst="line">
            <a:avLst/>
          </a:prstGeom>
          <a:noFill/>
          <a:ln w="19050">
            <a:solidFill>
              <a:srgbClr val="D37A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2" name="Text 29">
            <a:extLst>
              <a:ext uri="{FF2B5EF4-FFF2-40B4-BE49-F238E27FC236}">
                <a16:creationId xmlns:a16="http://schemas.microsoft.com/office/drawing/2014/main" id="{756108E4-8FFD-8B90-9A16-9534B3AA549C}"/>
              </a:ext>
            </a:extLst>
          </p:cNvPr>
          <p:cNvSpPr txBox="1"/>
          <p:nvPr/>
        </p:nvSpPr>
        <p:spPr>
          <a:xfrm>
            <a:off x="8343900" y="2641600"/>
            <a:ext cx="312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56666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Inscritos nos CSP por ULS a 31/dez, com uma janela de 12 meses.</a:t>
            </a:r>
            <a:endParaRPr lang="en-US" sz="950" dirty="0"/>
          </a:p>
        </p:txBody>
      </p:sp>
      <p:sp>
        <p:nvSpPr>
          <p:cNvPr id="64" name="Shape 30">
            <a:extLst>
              <a:ext uri="{FF2B5EF4-FFF2-40B4-BE49-F238E27FC236}">
                <a16:creationId xmlns:a16="http://schemas.microsoft.com/office/drawing/2014/main" id="{CE1088EC-7BF1-90CF-616D-B42847BEBDF0}"/>
              </a:ext>
            </a:extLst>
          </p:cNvPr>
          <p:cNvSpPr/>
          <p:nvPr/>
        </p:nvSpPr>
        <p:spPr>
          <a:xfrm>
            <a:off x="8343900" y="3429000"/>
            <a:ext cx="1435059" cy="266700"/>
          </a:xfrm>
          <a:prstGeom prst="roundRect">
            <a:avLst>
              <a:gd name="adj" fmla="val 50000"/>
            </a:avLst>
          </a:prstGeom>
          <a:solidFill>
            <a:srgbClr val="E0EEE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6" name="Text 31">
            <a:extLst>
              <a:ext uri="{FF2B5EF4-FFF2-40B4-BE49-F238E27FC236}">
                <a16:creationId xmlns:a16="http://schemas.microsoft.com/office/drawing/2014/main" id="{763B1C9A-E33C-339E-6FD0-F076A17E7CBE}"/>
              </a:ext>
            </a:extLst>
          </p:cNvPr>
          <p:cNvSpPr txBox="1"/>
          <p:nvPr/>
        </p:nvSpPr>
        <p:spPr>
          <a:xfrm>
            <a:off x="8470900" y="3429000"/>
            <a:ext cx="14350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75" dirty="0">
                <a:solidFill>
                  <a:srgbClr val="0F7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por ULS  ·  12 meses</a:t>
            </a:r>
            <a:endParaRPr lang="en-US" sz="775" dirty="0"/>
          </a:p>
        </p:txBody>
      </p:sp>
      <p:sp>
        <p:nvSpPr>
          <p:cNvPr id="68" name="Shape 32">
            <a:extLst>
              <a:ext uri="{FF2B5EF4-FFF2-40B4-BE49-F238E27FC236}">
                <a16:creationId xmlns:a16="http://schemas.microsoft.com/office/drawing/2014/main" id="{7B74A1EC-9738-0B25-0D8E-019C7B8F95C0}"/>
              </a:ext>
            </a:extLst>
          </p:cNvPr>
          <p:cNvSpPr/>
          <p:nvPr/>
        </p:nvSpPr>
        <p:spPr>
          <a:xfrm>
            <a:off x="8128000" y="4140200"/>
            <a:ext cx="3556000" cy="2273300"/>
          </a:xfrm>
          <a:prstGeom prst="roundRect">
            <a:avLst>
              <a:gd name="adj" fmla="val 5028"/>
            </a:avLst>
          </a:prstGeom>
          <a:solidFill>
            <a:srgbClr val="FFFFFF"/>
          </a:solidFill>
          <a:ln w="9525">
            <a:solidFill>
              <a:srgbClr val="D3DDD8"/>
            </a:solidFill>
            <a:prstDash val="solid"/>
          </a:ln>
          <a:effectLst>
            <a:outerShdw blurRad="76200" dist="38100" dir="5400000" algn="bl" rotWithShape="0">
              <a:srgbClr val="8FA39D">
                <a:alpha val="4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E90ADEFC-DCAE-A27E-69AE-21D9034C247D}"/>
              </a:ext>
            </a:extLst>
          </p:cNvPr>
          <p:cNvSpPr/>
          <p:nvPr/>
        </p:nvSpPr>
        <p:spPr>
          <a:xfrm>
            <a:off x="8128000" y="4140200"/>
            <a:ext cx="3556000" cy="44450"/>
          </a:xfrm>
          <a:prstGeom prst="roundRect">
            <a:avLst>
              <a:gd name="adj" fmla="val 61714"/>
            </a:avLst>
          </a:prstGeom>
          <a:solidFill>
            <a:srgbClr val="0F7A6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2" name="Text 34">
            <a:extLst>
              <a:ext uri="{FF2B5EF4-FFF2-40B4-BE49-F238E27FC236}">
                <a16:creationId xmlns:a16="http://schemas.microsoft.com/office/drawing/2014/main" id="{F1884212-F727-A1BC-8E62-3057EA412144}"/>
              </a:ext>
            </a:extLst>
          </p:cNvPr>
          <p:cNvSpPr txBox="1"/>
          <p:nvPr/>
        </p:nvSpPr>
        <p:spPr>
          <a:xfrm>
            <a:off x="8343900" y="42799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37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</a:t>
            </a:r>
            <a:endParaRPr lang="en-US" sz="2600" dirty="0"/>
          </a:p>
        </p:txBody>
      </p:sp>
      <p:sp>
        <p:nvSpPr>
          <p:cNvPr id="74" name="Text 35">
            <a:extLst>
              <a:ext uri="{FF2B5EF4-FFF2-40B4-BE49-F238E27FC236}">
                <a16:creationId xmlns:a16="http://schemas.microsoft.com/office/drawing/2014/main" id="{5ABE02E1-0A59-AE29-7F89-3453EDC142AB}"/>
              </a:ext>
            </a:extLst>
          </p:cNvPr>
          <p:cNvSpPr txBox="1"/>
          <p:nvPr/>
        </p:nvSpPr>
        <p:spPr>
          <a:xfrm>
            <a:off x="8928100" y="4368800"/>
            <a:ext cx="1280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CED8D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ETAPA</a:t>
            </a:r>
            <a:endParaRPr lang="en-US" sz="700" dirty="0"/>
          </a:p>
        </p:txBody>
      </p:sp>
      <p:sp>
        <p:nvSpPr>
          <p:cNvPr id="76" name="Text 36">
            <a:extLst>
              <a:ext uri="{FF2B5EF4-FFF2-40B4-BE49-F238E27FC236}">
                <a16:creationId xmlns:a16="http://schemas.microsoft.com/office/drawing/2014/main" id="{D02220AF-7DB9-6DE1-0575-35B511ADCE7C}"/>
              </a:ext>
            </a:extLst>
          </p:cNvPr>
          <p:cNvSpPr txBox="1"/>
          <p:nvPr/>
        </p:nvSpPr>
        <p:spPr>
          <a:xfrm>
            <a:off x="8343900" y="4800600"/>
            <a:ext cx="3124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32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Agrupamento pelo ACG</a:t>
            </a:r>
            <a:endParaRPr lang="en-US" sz="1350" dirty="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D7802689-A660-D7A3-8F51-2655F6D92B0A}"/>
              </a:ext>
            </a:extLst>
          </p:cNvPr>
          <p:cNvSpPr/>
          <p:nvPr/>
        </p:nvSpPr>
        <p:spPr>
          <a:xfrm>
            <a:off x="8343900" y="5080000"/>
            <a:ext cx="292100" cy="0"/>
          </a:xfrm>
          <a:prstGeom prst="line">
            <a:avLst/>
          </a:prstGeom>
          <a:noFill/>
          <a:ln w="19050">
            <a:solidFill>
              <a:srgbClr val="D37A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0" name="Text 38">
            <a:extLst>
              <a:ext uri="{FF2B5EF4-FFF2-40B4-BE49-F238E27FC236}">
                <a16:creationId xmlns:a16="http://schemas.microsoft.com/office/drawing/2014/main" id="{23D567DC-98E5-3AEF-0FF8-EAEA50B747C0}"/>
              </a:ext>
            </a:extLst>
          </p:cNvPr>
          <p:cNvSpPr txBox="1"/>
          <p:nvPr/>
        </p:nvSpPr>
        <p:spPr>
          <a:xfrm>
            <a:off x="8343900" y="5194300"/>
            <a:ext cx="312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56666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O software ACG v13.0 (Johns Hopkins) atribui um Grupo de Risco Ajustado a cada utente.</a:t>
            </a:r>
            <a:endParaRPr lang="en-US" sz="950" dirty="0"/>
          </a:p>
        </p:txBody>
      </p:sp>
      <p:sp>
        <p:nvSpPr>
          <p:cNvPr id="82" name="Shape 39">
            <a:extLst>
              <a:ext uri="{FF2B5EF4-FFF2-40B4-BE49-F238E27FC236}">
                <a16:creationId xmlns:a16="http://schemas.microsoft.com/office/drawing/2014/main" id="{FD1DEE02-B7A6-0860-036C-226463D2745E}"/>
              </a:ext>
            </a:extLst>
          </p:cNvPr>
          <p:cNvSpPr/>
          <p:nvPr/>
        </p:nvSpPr>
        <p:spPr>
          <a:xfrm>
            <a:off x="8343900" y="5981700"/>
            <a:ext cx="1139800" cy="266700"/>
          </a:xfrm>
          <a:prstGeom prst="roundRect">
            <a:avLst>
              <a:gd name="adj" fmla="val 50000"/>
            </a:avLst>
          </a:prstGeom>
          <a:solidFill>
            <a:srgbClr val="E0EEE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4" name="Text 40">
            <a:extLst>
              <a:ext uri="{FF2B5EF4-FFF2-40B4-BE49-F238E27FC236}">
                <a16:creationId xmlns:a16="http://schemas.microsoft.com/office/drawing/2014/main" id="{C8FE95FD-3246-DD53-8DBD-49988B4DDAA6}"/>
              </a:ext>
            </a:extLst>
          </p:cNvPr>
          <p:cNvSpPr txBox="1"/>
          <p:nvPr/>
        </p:nvSpPr>
        <p:spPr>
          <a:xfrm>
            <a:off x="8470900" y="5981700"/>
            <a:ext cx="113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75" dirty="0">
                <a:solidFill>
                  <a:srgbClr val="0F7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GRA  ·  NUR 0–5</a:t>
            </a:r>
            <a:endParaRPr lang="en-US" sz="775" dirty="0"/>
          </a:p>
        </p:txBody>
      </p:sp>
      <p:sp>
        <p:nvSpPr>
          <p:cNvPr id="86" name="Shape 41">
            <a:extLst>
              <a:ext uri="{FF2B5EF4-FFF2-40B4-BE49-F238E27FC236}">
                <a16:creationId xmlns:a16="http://schemas.microsoft.com/office/drawing/2014/main" id="{442B7C8C-4F64-DCE5-EA3B-F8C5F6959F78}"/>
              </a:ext>
            </a:extLst>
          </p:cNvPr>
          <p:cNvSpPr/>
          <p:nvPr/>
        </p:nvSpPr>
        <p:spPr>
          <a:xfrm>
            <a:off x="4318000" y="4140200"/>
            <a:ext cx="3556000" cy="2273300"/>
          </a:xfrm>
          <a:prstGeom prst="roundRect">
            <a:avLst>
              <a:gd name="adj" fmla="val 5028"/>
            </a:avLst>
          </a:prstGeom>
          <a:solidFill>
            <a:srgbClr val="FFFFFF"/>
          </a:solidFill>
          <a:ln w="9525">
            <a:solidFill>
              <a:srgbClr val="D3DDD8"/>
            </a:solidFill>
            <a:prstDash val="solid"/>
          </a:ln>
          <a:effectLst>
            <a:outerShdw blurRad="76200" dist="38100" dir="5400000" algn="bl" rotWithShape="0">
              <a:srgbClr val="8FA39D">
                <a:alpha val="4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8" name="Shape 42">
            <a:extLst>
              <a:ext uri="{FF2B5EF4-FFF2-40B4-BE49-F238E27FC236}">
                <a16:creationId xmlns:a16="http://schemas.microsoft.com/office/drawing/2014/main" id="{544A3CF2-BB36-35A1-E059-7989E6D5287F}"/>
              </a:ext>
            </a:extLst>
          </p:cNvPr>
          <p:cNvSpPr/>
          <p:nvPr/>
        </p:nvSpPr>
        <p:spPr>
          <a:xfrm>
            <a:off x="4318000" y="4140200"/>
            <a:ext cx="3556000" cy="44450"/>
          </a:xfrm>
          <a:prstGeom prst="roundRect">
            <a:avLst>
              <a:gd name="adj" fmla="val 61714"/>
            </a:avLst>
          </a:prstGeom>
          <a:solidFill>
            <a:srgbClr val="0F7A6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0" name="Text 43">
            <a:extLst>
              <a:ext uri="{FF2B5EF4-FFF2-40B4-BE49-F238E27FC236}">
                <a16:creationId xmlns:a16="http://schemas.microsoft.com/office/drawing/2014/main" id="{EF46F0E2-E91A-94B9-F90F-4C7F14867603}"/>
              </a:ext>
            </a:extLst>
          </p:cNvPr>
          <p:cNvSpPr txBox="1"/>
          <p:nvPr/>
        </p:nvSpPr>
        <p:spPr>
          <a:xfrm>
            <a:off x="4533900" y="42799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37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05</a:t>
            </a:r>
            <a:endParaRPr lang="en-US" sz="2600" dirty="0"/>
          </a:p>
        </p:txBody>
      </p:sp>
      <p:sp>
        <p:nvSpPr>
          <p:cNvPr id="92" name="Text 44">
            <a:extLst>
              <a:ext uri="{FF2B5EF4-FFF2-40B4-BE49-F238E27FC236}">
                <a16:creationId xmlns:a16="http://schemas.microsoft.com/office/drawing/2014/main" id="{A9BA6824-B15B-C528-F4FA-529891B5FDBF}"/>
              </a:ext>
            </a:extLst>
          </p:cNvPr>
          <p:cNvSpPr txBox="1"/>
          <p:nvPr/>
        </p:nvSpPr>
        <p:spPr>
          <a:xfrm>
            <a:off x="5118100" y="4368800"/>
            <a:ext cx="1280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CED8D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ETAPA</a:t>
            </a:r>
            <a:endParaRPr lang="en-US" sz="700" dirty="0"/>
          </a:p>
        </p:txBody>
      </p:sp>
      <p:sp>
        <p:nvSpPr>
          <p:cNvPr id="94" name="Text 45">
            <a:extLst>
              <a:ext uri="{FF2B5EF4-FFF2-40B4-BE49-F238E27FC236}">
                <a16:creationId xmlns:a16="http://schemas.microsoft.com/office/drawing/2014/main" id="{C2126477-C28D-D42D-5272-5454F814081F}"/>
              </a:ext>
            </a:extLst>
          </p:cNvPr>
          <p:cNvSpPr txBox="1"/>
          <p:nvPr/>
        </p:nvSpPr>
        <p:spPr>
          <a:xfrm>
            <a:off x="4533900" y="4800600"/>
            <a:ext cx="3124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32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Cálculo dos agregados</a:t>
            </a:r>
            <a:endParaRPr lang="en-US" sz="1350" dirty="0"/>
          </a:p>
        </p:txBody>
      </p:sp>
      <p:sp>
        <p:nvSpPr>
          <p:cNvPr id="96" name="Shape 46">
            <a:extLst>
              <a:ext uri="{FF2B5EF4-FFF2-40B4-BE49-F238E27FC236}">
                <a16:creationId xmlns:a16="http://schemas.microsoft.com/office/drawing/2014/main" id="{1234BF92-EB09-2291-A3F4-94AC0FF931AF}"/>
              </a:ext>
            </a:extLst>
          </p:cNvPr>
          <p:cNvSpPr/>
          <p:nvPr/>
        </p:nvSpPr>
        <p:spPr>
          <a:xfrm>
            <a:off x="4533900" y="5080000"/>
            <a:ext cx="292100" cy="0"/>
          </a:xfrm>
          <a:prstGeom prst="line">
            <a:avLst/>
          </a:prstGeom>
          <a:noFill/>
          <a:ln w="19050">
            <a:solidFill>
              <a:srgbClr val="D37A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8" name="Text 47">
            <a:extLst>
              <a:ext uri="{FF2B5EF4-FFF2-40B4-BE49-F238E27FC236}">
                <a16:creationId xmlns:a16="http://schemas.microsoft.com/office/drawing/2014/main" id="{99568976-61D7-75BC-188B-A5E653ECB136}"/>
              </a:ext>
            </a:extLst>
          </p:cNvPr>
          <p:cNvSpPr txBox="1"/>
          <p:nvPr/>
        </p:nvSpPr>
        <p:spPr>
          <a:xfrm>
            <a:off x="4533900" y="5194300"/>
            <a:ext cx="312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56666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Pirâmide de Kaiser, índice IDRA e tabela nacional de GRA.</a:t>
            </a:r>
            <a:endParaRPr lang="en-US" sz="950" dirty="0"/>
          </a:p>
        </p:txBody>
      </p:sp>
      <p:sp>
        <p:nvSpPr>
          <p:cNvPr id="100" name="Shape 48">
            <a:extLst>
              <a:ext uri="{FF2B5EF4-FFF2-40B4-BE49-F238E27FC236}">
                <a16:creationId xmlns:a16="http://schemas.microsoft.com/office/drawing/2014/main" id="{441E2E61-BCB9-F5F4-AF09-635BEADF5268}"/>
              </a:ext>
            </a:extLst>
          </p:cNvPr>
          <p:cNvSpPr/>
          <p:nvPr/>
        </p:nvSpPr>
        <p:spPr>
          <a:xfrm>
            <a:off x="4533900" y="5981700"/>
            <a:ext cx="1139800" cy="266700"/>
          </a:xfrm>
          <a:prstGeom prst="roundRect">
            <a:avLst>
              <a:gd name="adj" fmla="val 50000"/>
            </a:avLst>
          </a:prstGeom>
          <a:solidFill>
            <a:srgbClr val="E0EEE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2" name="Text 49">
            <a:extLst>
              <a:ext uri="{FF2B5EF4-FFF2-40B4-BE49-F238E27FC236}">
                <a16:creationId xmlns:a16="http://schemas.microsoft.com/office/drawing/2014/main" id="{37D55E5B-879F-4BC4-A400-C77088C54939}"/>
              </a:ext>
            </a:extLst>
          </p:cNvPr>
          <p:cNvSpPr txBox="1"/>
          <p:nvPr/>
        </p:nvSpPr>
        <p:spPr>
          <a:xfrm>
            <a:off x="4660900" y="5981700"/>
            <a:ext cx="113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75" dirty="0">
                <a:solidFill>
                  <a:srgbClr val="0F7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Kaiser  ·  IDRA</a:t>
            </a:r>
            <a:endParaRPr lang="en-US" sz="775" dirty="0"/>
          </a:p>
        </p:txBody>
      </p:sp>
      <p:sp>
        <p:nvSpPr>
          <p:cNvPr id="104" name="Shape 50">
            <a:extLst>
              <a:ext uri="{FF2B5EF4-FFF2-40B4-BE49-F238E27FC236}">
                <a16:creationId xmlns:a16="http://schemas.microsoft.com/office/drawing/2014/main" id="{2ECA8BC4-CD85-2351-57CD-8FC632775099}"/>
              </a:ext>
            </a:extLst>
          </p:cNvPr>
          <p:cNvSpPr/>
          <p:nvPr/>
        </p:nvSpPr>
        <p:spPr>
          <a:xfrm>
            <a:off x="508000" y="4140200"/>
            <a:ext cx="3556000" cy="2273300"/>
          </a:xfrm>
          <a:prstGeom prst="roundRect">
            <a:avLst>
              <a:gd name="adj" fmla="val 5028"/>
            </a:avLst>
          </a:prstGeom>
          <a:solidFill>
            <a:srgbClr val="FFFFFF"/>
          </a:solidFill>
          <a:ln w="9525">
            <a:solidFill>
              <a:srgbClr val="D3DDD8"/>
            </a:solidFill>
            <a:prstDash val="solid"/>
          </a:ln>
          <a:effectLst>
            <a:outerShdw blurRad="76200" dist="38100" dir="5400000" algn="bl" rotWithShape="0">
              <a:srgbClr val="8FA39D">
                <a:alpha val="4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06" name="Shape 51">
            <a:extLst>
              <a:ext uri="{FF2B5EF4-FFF2-40B4-BE49-F238E27FC236}">
                <a16:creationId xmlns:a16="http://schemas.microsoft.com/office/drawing/2014/main" id="{60FD8723-EE28-8787-1AED-834209E65A73}"/>
              </a:ext>
            </a:extLst>
          </p:cNvPr>
          <p:cNvSpPr/>
          <p:nvPr/>
        </p:nvSpPr>
        <p:spPr>
          <a:xfrm>
            <a:off x="508000" y="4140200"/>
            <a:ext cx="3556000" cy="44450"/>
          </a:xfrm>
          <a:prstGeom prst="roundRect">
            <a:avLst>
              <a:gd name="adj" fmla="val 61714"/>
            </a:avLst>
          </a:prstGeom>
          <a:solidFill>
            <a:srgbClr val="0F7A6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8" name="Text 52">
            <a:extLst>
              <a:ext uri="{FF2B5EF4-FFF2-40B4-BE49-F238E27FC236}">
                <a16:creationId xmlns:a16="http://schemas.microsoft.com/office/drawing/2014/main" id="{6DF8ABFD-3A53-B5EB-90F1-E44585827971}"/>
              </a:ext>
            </a:extLst>
          </p:cNvPr>
          <p:cNvSpPr txBox="1"/>
          <p:nvPr/>
        </p:nvSpPr>
        <p:spPr>
          <a:xfrm>
            <a:off x="723900" y="42799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D37A22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06</a:t>
            </a:r>
            <a:endParaRPr lang="en-US" sz="2600" dirty="0"/>
          </a:p>
        </p:txBody>
      </p:sp>
      <p:sp>
        <p:nvSpPr>
          <p:cNvPr id="110" name="Text 53">
            <a:extLst>
              <a:ext uri="{FF2B5EF4-FFF2-40B4-BE49-F238E27FC236}">
                <a16:creationId xmlns:a16="http://schemas.microsoft.com/office/drawing/2014/main" id="{8C2FD95C-D22B-B369-DD44-3B827D42EB61}"/>
              </a:ext>
            </a:extLst>
          </p:cNvPr>
          <p:cNvSpPr txBox="1"/>
          <p:nvPr/>
        </p:nvSpPr>
        <p:spPr>
          <a:xfrm>
            <a:off x="1308100" y="4368800"/>
            <a:ext cx="12801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CED8D5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ETAPA</a:t>
            </a:r>
            <a:endParaRPr lang="en-US" sz="700" dirty="0"/>
          </a:p>
        </p:txBody>
      </p:sp>
      <p:sp>
        <p:nvSpPr>
          <p:cNvPr id="112" name="Text 54">
            <a:extLst>
              <a:ext uri="{FF2B5EF4-FFF2-40B4-BE49-F238E27FC236}">
                <a16:creationId xmlns:a16="http://schemas.microsoft.com/office/drawing/2014/main" id="{DCC3E46B-2C6A-9E14-AB0C-3E367FB0ED19}"/>
              </a:ext>
            </a:extLst>
          </p:cNvPr>
          <p:cNvSpPr txBox="1"/>
          <p:nvPr/>
        </p:nvSpPr>
        <p:spPr>
          <a:xfrm>
            <a:off x="723900" y="4800600"/>
            <a:ext cx="3124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2332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Disponibilização</a:t>
            </a:r>
            <a:endParaRPr lang="en-US" sz="1350" dirty="0"/>
          </a:p>
        </p:txBody>
      </p:sp>
      <p:sp>
        <p:nvSpPr>
          <p:cNvPr id="114" name="Shape 55">
            <a:extLst>
              <a:ext uri="{FF2B5EF4-FFF2-40B4-BE49-F238E27FC236}">
                <a16:creationId xmlns:a16="http://schemas.microsoft.com/office/drawing/2014/main" id="{2BB35DBC-FC05-42D9-8A30-C97A85626E3A}"/>
              </a:ext>
            </a:extLst>
          </p:cNvPr>
          <p:cNvSpPr/>
          <p:nvPr/>
        </p:nvSpPr>
        <p:spPr>
          <a:xfrm>
            <a:off x="723900" y="5080000"/>
            <a:ext cx="292100" cy="0"/>
          </a:xfrm>
          <a:prstGeom prst="line">
            <a:avLst/>
          </a:prstGeom>
          <a:noFill/>
          <a:ln w="19050">
            <a:solidFill>
              <a:srgbClr val="D37A22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6" name="Text 56">
            <a:extLst>
              <a:ext uri="{FF2B5EF4-FFF2-40B4-BE49-F238E27FC236}">
                <a16:creationId xmlns:a16="http://schemas.microsoft.com/office/drawing/2014/main" id="{4C40A638-E8DA-CE02-7EF7-599A969988B0}"/>
              </a:ext>
            </a:extLst>
          </p:cNvPr>
          <p:cNvSpPr txBox="1"/>
          <p:nvPr/>
        </p:nvSpPr>
        <p:spPr>
          <a:xfrm>
            <a:off x="723900" y="5194300"/>
            <a:ext cx="3124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50" dirty="0">
                <a:solidFill>
                  <a:srgbClr val="56666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Indicadores por utente no BI-ER e nos sistemas clínicos.</a:t>
            </a:r>
            <a:endParaRPr lang="en-US" sz="950" dirty="0"/>
          </a:p>
        </p:txBody>
      </p:sp>
      <p:sp>
        <p:nvSpPr>
          <p:cNvPr id="118" name="Shape 57">
            <a:extLst>
              <a:ext uri="{FF2B5EF4-FFF2-40B4-BE49-F238E27FC236}">
                <a16:creationId xmlns:a16="http://schemas.microsoft.com/office/drawing/2014/main" id="{1EC8B2DB-1732-4415-15CC-EE67E4919EFE}"/>
              </a:ext>
            </a:extLst>
          </p:cNvPr>
          <p:cNvSpPr/>
          <p:nvPr/>
        </p:nvSpPr>
        <p:spPr>
          <a:xfrm>
            <a:off x="723900" y="5981700"/>
            <a:ext cx="1671340" cy="266700"/>
          </a:xfrm>
          <a:prstGeom prst="roundRect">
            <a:avLst>
              <a:gd name="adj" fmla="val 50000"/>
            </a:avLst>
          </a:prstGeom>
          <a:solidFill>
            <a:srgbClr val="E0EEEB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0" name="Text 58">
            <a:extLst>
              <a:ext uri="{FF2B5EF4-FFF2-40B4-BE49-F238E27FC236}">
                <a16:creationId xmlns:a16="http://schemas.microsoft.com/office/drawing/2014/main" id="{DA601981-20B9-301A-F1F5-C43900830AF6}"/>
              </a:ext>
            </a:extLst>
          </p:cNvPr>
          <p:cNvSpPr txBox="1"/>
          <p:nvPr/>
        </p:nvSpPr>
        <p:spPr>
          <a:xfrm>
            <a:off x="850900" y="5981700"/>
            <a:ext cx="1671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75" dirty="0">
                <a:solidFill>
                  <a:srgbClr val="0F7A6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BI-ER  ·  SClínico / RSE</a:t>
            </a:r>
            <a:endParaRPr lang="en-US" sz="775" dirty="0"/>
          </a:p>
        </p:txBody>
      </p:sp>
      <p:sp>
        <p:nvSpPr>
          <p:cNvPr id="122" name="Shape 59">
            <a:extLst>
              <a:ext uri="{FF2B5EF4-FFF2-40B4-BE49-F238E27FC236}">
                <a16:creationId xmlns:a16="http://schemas.microsoft.com/office/drawing/2014/main" id="{0A3D958D-E9E4-417D-528C-35F1C8D36DA1}"/>
              </a:ext>
            </a:extLst>
          </p:cNvPr>
          <p:cNvSpPr/>
          <p:nvPr/>
        </p:nvSpPr>
        <p:spPr>
          <a:xfrm rot="5400000">
            <a:off x="4113276" y="2623566"/>
            <a:ext cx="155448" cy="201168"/>
          </a:xfrm>
          <a:prstGeom prst="triangle">
            <a:avLst/>
          </a:prstGeom>
          <a:solidFill>
            <a:srgbClr val="D37A2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4" name="Shape 60">
            <a:extLst>
              <a:ext uri="{FF2B5EF4-FFF2-40B4-BE49-F238E27FC236}">
                <a16:creationId xmlns:a16="http://schemas.microsoft.com/office/drawing/2014/main" id="{93CFF844-0FED-35F8-0C32-9D63BC215609}"/>
              </a:ext>
            </a:extLst>
          </p:cNvPr>
          <p:cNvSpPr/>
          <p:nvPr/>
        </p:nvSpPr>
        <p:spPr>
          <a:xfrm rot="5400000">
            <a:off x="7923276" y="2623566"/>
            <a:ext cx="155448" cy="201168"/>
          </a:xfrm>
          <a:prstGeom prst="triangle">
            <a:avLst/>
          </a:prstGeom>
          <a:solidFill>
            <a:srgbClr val="D37A2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6" name="Shape 61">
            <a:extLst>
              <a:ext uri="{FF2B5EF4-FFF2-40B4-BE49-F238E27FC236}">
                <a16:creationId xmlns:a16="http://schemas.microsoft.com/office/drawing/2014/main" id="{670518EE-76C6-5132-14E1-A24F5C8A62BA}"/>
              </a:ext>
            </a:extLst>
          </p:cNvPr>
          <p:cNvSpPr/>
          <p:nvPr/>
        </p:nvSpPr>
        <p:spPr>
          <a:xfrm rot="10800000">
            <a:off x="9828276" y="3899916"/>
            <a:ext cx="155448" cy="201168"/>
          </a:xfrm>
          <a:prstGeom prst="triangle">
            <a:avLst/>
          </a:prstGeom>
          <a:solidFill>
            <a:srgbClr val="D37A2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8" name="Shape 62">
            <a:extLst>
              <a:ext uri="{FF2B5EF4-FFF2-40B4-BE49-F238E27FC236}">
                <a16:creationId xmlns:a16="http://schemas.microsoft.com/office/drawing/2014/main" id="{7E7AEFAA-79A2-B3DF-361C-A920199326B8}"/>
              </a:ext>
            </a:extLst>
          </p:cNvPr>
          <p:cNvSpPr/>
          <p:nvPr/>
        </p:nvSpPr>
        <p:spPr>
          <a:xfrm rot="16200000">
            <a:off x="7923276" y="5176266"/>
            <a:ext cx="155448" cy="201168"/>
          </a:xfrm>
          <a:prstGeom prst="triangle">
            <a:avLst/>
          </a:prstGeom>
          <a:solidFill>
            <a:srgbClr val="D37A2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0" name="Shape 63">
            <a:extLst>
              <a:ext uri="{FF2B5EF4-FFF2-40B4-BE49-F238E27FC236}">
                <a16:creationId xmlns:a16="http://schemas.microsoft.com/office/drawing/2014/main" id="{CA97A8B9-30CF-D0A9-57C3-DB5AE1C6A230}"/>
              </a:ext>
            </a:extLst>
          </p:cNvPr>
          <p:cNvSpPr/>
          <p:nvPr/>
        </p:nvSpPr>
        <p:spPr>
          <a:xfrm rot="16200000">
            <a:off x="4113276" y="5176266"/>
            <a:ext cx="155448" cy="201168"/>
          </a:xfrm>
          <a:prstGeom prst="triangle">
            <a:avLst/>
          </a:prstGeom>
          <a:solidFill>
            <a:srgbClr val="D37A2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2" name="Shape 64">
            <a:extLst>
              <a:ext uri="{FF2B5EF4-FFF2-40B4-BE49-F238E27FC236}">
                <a16:creationId xmlns:a16="http://schemas.microsoft.com/office/drawing/2014/main" id="{EECE856E-24EB-B67E-9A23-4ADDC903B9C5}"/>
              </a:ext>
            </a:extLst>
          </p:cNvPr>
          <p:cNvSpPr/>
          <p:nvPr/>
        </p:nvSpPr>
        <p:spPr>
          <a:xfrm>
            <a:off x="508000" y="6527800"/>
            <a:ext cx="11176000" cy="0"/>
          </a:xfrm>
          <a:prstGeom prst="line">
            <a:avLst/>
          </a:prstGeom>
          <a:noFill/>
          <a:ln w="9525">
            <a:solidFill>
              <a:srgbClr val="D3DDD8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4" name="Text 65">
            <a:extLst>
              <a:ext uri="{FF2B5EF4-FFF2-40B4-BE49-F238E27FC236}">
                <a16:creationId xmlns:a16="http://schemas.microsoft.com/office/drawing/2014/main" id="{D57FECCB-0A6E-4E43-9EE1-B0917BD81D55}"/>
              </a:ext>
            </a:extLst>
          </p:cNvPr>
          <p:cNvSpPr txBox="1"/>
          <p:nvPr/>
        </p:nvSpPr>
        <p:spPr>
          <a:xfrm>
            <a:off x="508000" y="6604000"/>
            <a:ext cx="1115568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75" dirty="0">
                <a:solidFill>
                  <a:srgbClr val="566662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Fontes: Circulares Normativas 4/2024 e 12/2024 e Despacho 12986/2023 (ACSS) · Manual BI-ER (SPMS) · ACG System v13.0 (Johns Hopkins)</a:t>
            </a:r>
            <a:endParaRPr lang="en-US" sz="775" dirty="0"/>
          </a:p>
        </p:txBody>
      </p:sp>
    </p:spTree>
    <p:extLst>
      <p:ext uri="{BB962C8B-B14F-4D97-AF65-F5344CB8AC3E}">
        <p14:creationId xmlns:p14="http://schemas.microsoft.com/office/powerpoint/2010/main" val="3066952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78638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>
                <a:solidFill>
                  <a:schemeClr val="tx1"/>
                </a:solidFill>
                <a:latin typeface="Bricolage Grotesque"/>
              </a:rPr>
              <a:t>Glossário — conceitos centrais do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783080"/>
            <a:ext cx="53492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>
                <a:solidFill>
                  <a:schemeClr val="accent1"/>
                </a:solidFill>
                <a:latin typeface="Work Sans"/>
              </a:rPr>
              <a:t>ER</a:t>
            </a:r>
            <a:r>
              <a:rPr sz="1250" b="1">
                <a:solidFill>
                  <a:schemeClr val="tx1"/>
                </a:solidFill>
                <a:latin typeface="Work Sans"/>
              </a:rPr>
              <a:t>  Estratificação pelo Risco</a:t>
            </a:r>
            <a:r>
              <a:rPr sz="1150">
                <a:solidFill>
                  <a:schemeClr val="tx2"/>
                </a:solidFill>
                <a:latin typeface="Work Sans"/>
              </a:rPr>
              <a:t>  — abordagem sistemática e de base populacional para prever necessidades futuras de saúde. </a:t>
            </a:r>
            <a:r>
              <a:rPr sz="850" i="1">
                <a:solidFill>
                  <a:schemeClr val="tx2"/>
                </a:solidFill>
                <a:latin typeface="Work Sans"/>
              </a:rPr>
              <a:t>(Circular 4, p.2)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>
                <a:solidFill>
                  <a:schemeClr val="accent1"/>
                </a:solidFill>
                <a:latin typeface="Work Sans"/>
              </a:rPr>
              <a:t>ACG</a:t>
            </a:r>
            <a:r>
              <a:rPr sz="1250" b="1">
                <a:solidFill>
                  <a:schemeClr val="tx1"/>
                </a:solidFill>
                <a:latin typeface="Work Sans"/>
              </a:rPr>
              <a:t>  Adjusted Clinical Groups</a:t>
            </a:r>
            <a:r>
              <a:rPr sz="1150">
                <a:solidFill>
                  <a:schemeClr val="tx2"/>
                </a:solidFill>
                <a:latin typeface="Work Sans"/>
              </a:rPr>
              <a:t>  — sistema de ajuste de risco da Johns Hopkins; em Portugal usa-se o software v13.0 (181 GRA). </a:t>
            </a:r>
            <a:r>
              <a:rPr sz="850" i="1">
                <a:solidFill>
                  <a:schemeClr val="tx2"/>
                </a:solidFill>
                <a:latin typeface="Work Sans"/>
              </a:rPr>
              <a:t>(Relatório ACG, p.15)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>
                <a:solidFill>
                  <a:schemeClr val="accent1"/>
                </a:solidFill>
                <a:latin typeface="Work Sans"/>
              </a:rPr>
              <a:t>GRA</a:t>
            </a:r>
            <a:r>
              <a:rPr sz="1250" b="1">
                <a:solidFill>
                  <a:schemeClr val="tx1"/>
                </a:solidFill>
                <a:latin typeface="Work Sans"/>
              </a:rPr>
              <a:t>  Grupo de Risco Ajustado</a:t>
            </a:r>
            <a:r>
              <a:rPr sz="1150">
                <a:solidFill>
                  <a:schemeClr val="tx2"/>
                </a:solidFill>
                <a:latin typeface="Work Sans"/>
              </a:rPr>
              <a:t>  — grupo atribuído a cada utente no agrupamento, reunindo utentes com necessidades e perfil clínico semelhantes. </a:t>
            </a:r>
            <a:r>
              <a:rPr sz="850" i="1">
                <a:solidFill>
                  <a:schemeClr val="tx2"/>
                </a:solidFill>
                <a:latin typeface="Work Sans"/>
              </a:rPr>
              <a:t>(Manual BI-ER, p.9; Relatório ACG, p.14)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783080"/>
            <a:ext cx="53492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>
                <a:solidFill>
                  <a:schemeClr val="accent1"/>
                </a:solidFill>
                <a:latin typeface="Work Sans"/>
              </a:rPr>
              <a:t>Peso relativo</a:t>
            </a:r>
            <a:r>
              <a:rPr sz="1150">
                <a:solidFill>
                  <a:schemeClr val="tx2"/>
                </a:solidFill>
                <a:latin typeface="Work Sans"/>
              </a:rPr>
              <a:t>  — valor do GRA que pondera a complexidade e o custo esperado face à média nacional (=1); calculado pelo Local Concurrent Risk. </a:t>
            </a:r>
            <a:r>
              <a:rPr sz="850" i="1">
                <a:solidFill>
                  <a:schemeClr val="tx2"/>
                </a:solidFill>
                <a:latin typeface="Work Sans"/>
              </a:rPr>
              <a:t>(Circular 4, p.4; Relatório ACG, p.14–15)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>
                <a:solidFill>
                  <a:schemeClr val="accent1"/>
                </a:solidFill>
                <a:latin typeface="Work Sans"/>
              </a:rPr>
              <a:t>NUR</a:t>
            </a:r>
            <a:r>
              <a:rPr sz="1250" b="1">
                <a:solidFill>
                  <a:schemeClr val="tx1"/>
                </a:solidFill>
                <a:latin typeface="Work Sans"/>
              </a:rPr>
              <a:t>  Nível de Utilização de Recursos (RUB)</a:t>
            </a:r>
            <a:r>
              <a:rPr sz="1150">
                <a:solidFill>
                  <a:schemeClr val="tx2"/>
                </a:solidFill>
                <a:latin typeface="Work Sans"/>
              </a:rPr>
              <a:t>  — consumo esperado de recursos em 6 níveis: 0 sem diagnóstico, 1 saudável, 2 baixo, 3 moderado, 4 alto, 5 muito alto. </a:t>
            </a:r>
            <a:r>
              <a:rPr sz="850" i="1">
                <a:solidFill>
                  <a:schemeClr val="tx2"/>
                </a:solidFill>
                <a:latin typeface="Work Sans"/>
              </a:rPr>
              <a:t>(Relatório ACG, p.15–16)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>
                <a:solidFill>
                  <a:schemeClr val="accent1"/>
                </a:solidFill>
                <a:latin typeface="Work Sans"/>
              </a:rPr>
              <a:t>GN</a:t>
            </a:r>
            <a:r>
              <a:rPr sz="1250" b="1">
                <a:solidFill>
                  <a:schemeClr val="tx1"/>
                </a:solidFill>
                <a:latin typeface="Work Sans"/>
              </a:rPr>
              <a:t>  Grupo de Necessidades (PNG)</a:t>
            </a:r>
            <a:r>
              <a:rPr sz="1150">
                <a:solidFill>
                  <a:schemeClr val="tx2"/>
                </a:solidFill>
                <a:latin typeface="Work Sans"/>
              </a:rPr>
              <a:t>  — segmentação clínica em categorias mutuamente exclusivas: 11 grupos agregados em 6 segmentos. </a:t>
            </a:r>
            <a:r>
              <a:rPr sz="850" i="1">
                <a:solidFill>
                  <a:schemeClr val="tx2"/>
                </a:solidFill>
                <a:latin typeface="Work Sans"/>
              </a:rPr>
              <a:t>(Relatório ACG, p.16)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B376FB-883B-0D8B-900D-28EF588B62F2}"/>
              </a:ext>
            </a:extLst>
          </p:cNvPr>
          <p:cNvSpPr txBox="1"/>
          <p:nvPr/>
        </p:nvSpPr>
        <p:spPr>
          <a:xfrm>
            <a:off x="566928" y="4245543"/>
            <a:ext cx="53492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 dirty="0">
                <a:solidFill>
                  <a:schemeClr val="accent1"/>
                </a:solidFill>
                <a:latin typeface="Work Sans"/>
              </a:rPr>
              <a:t>ADG</a:t>
            </a:r>
            <a:r>
              <a:rPr sz="1250" b="1" dirty="0">
                <a:solidFill>
                  <a:schemeClr val="tx1"/>
                </a:solidFill>
                <a:latin typeface="Work Sans"/>
              </a:rPr>
              <a:t>  Grupos de </a:t>
            </a:r>
            <a:r>
              <a:rPr sz="1250" b="1" dirty="0" err="1">
                <a:solidFill>
                  <a:schemeClr val="tx1"/>
                </a:solidFill>
                <a:latin typeface="Work Sans"/>
              </a:rPr>
              <a:t>Diagnósticos</a:t>
            </a:r>
            <a:r>
              <a:rPr sz="1250" b="1" dirty="0">
                <a:solidFill>
                  <a:schemeClr val="tx1"/>
                </a:solidFill>
                <a:latin typeface="Work Sans"/>
              </a:rPr>
              <a:t> </a:t>
            </a:r>
            <a:r>
              <a:rPr sz="1250" b="1" dirty="0" err="1">
                <a:solidFill>
                  <a:schemeClr val="tx1"/>
                </a:solidFill>
                <a:latin typeface="Work Sans"/>
              </a:rPr>
              <a:t>Agregados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 — 32 grupos;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cada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diagnóstico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(ICD-10 / ICPC-2) é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mapeado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num ADG. </a:t>
            </a:r>
            <a:r>
              <a:rPr sz="850" i="1" dirty="0">
                <a:solidFill>
                  <a:schemeClr val="tx2"/>
                </a:solidFill>
                <a:latin typeface="Work Sans"/>
              </a:rPr>
              <a:t>(</a:t>
            </a:r>
            <a:r>
              <a:rPr sz="850" i="1" dirty="0" err="1">
                <a:solidFill>
                  <a:schemeClr val="tx2"/>
                </a:solidFill>
                <a:latin typeface="Work Sans"/>
              </a:rPr>
              <a:t>Relatório</a:t>
            </a:r>
            <a:r>
              <a:rPr sz="850" i="1" dirty="0">
                <a:solidFill>
                  <a:schemeClr val="tx2"/>
                </a:solidFill>
                <a:latin typeface="Work Sans"/>
              </a:rPr>
              <a:t> ACG, p.11–12)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 dirty="0">
                <a:solidFill>
                  <a:schemeClr val="accent1"/>
                </a:solidFill>
                <a:latin typeface="Work Sans"/>
              </a:rPr>
              <a:t>CADG</a:t>
            </a:r>
            <a:r>
              <a:rPr sz="1250" b="1" dirty="0">
                <a:solidFill>
                  <a:schemeClr val="tx1"/>
                </a:solidFill>
                <a:latin typeface="Work Sans"/>
              </a:rPr>
              <a:t>  ADG </a:t>
            </a:r>
            <a:r>
              <a:rPr sz="1250" b="1" dirty="0" err="1">
                <a:solidFill>
                  <a:schemeClr val="tx1"/>
                </a:solidFill>
                <a:latin typeface="Work Sans"/>
              </a:rPr>
              <a:t>Colapsados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 — 12 grupos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que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agregam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os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32 ADG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segundo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critérios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clínicos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. </a:t>
            </a:r>
            <a:r>
              <a:rPr sz="850" i="1" dirty="0">
                <a:solidFill>
                  <a:schemeClr val="tx2"/>
                </a:solidFill>
                <a:latin typeface="Work Sans"/>
              </a:rPr>
              <a:t>(</a:t>
            </a:r>
            <a:r>
              <a:rPr sz="850" i="1" dirty="0" err="1">
                <a:solidFill>
                  <a:schemeClr val="tx2"/>
                </a:solidFill>
                <a:latin typeface="Work Sans"/>
              </a:rPr>
              <a:t>Relatório</a:t>
            </a:r>
            <a:r>
              <a:rPr sz="850" i="1" dirty="0">
                <a:solidFill>
                  <a:schemeClr val="tx2"/>
                </a:solidFill>
                <a:latin typeface="Work Sans"/>
              </a:rPr>
              <a:t> ACG, p.12–13)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 dirty="0">
                <a:solidFill>
                  <a:schemeClr val="accent1"/>
                </a:solidFill>
                <a:latin typeface="Work Sans"/>
              </a:rPr>
              <a:t>MAC</a:t>
            </a:r>
            <a:r>
              <a:rPr sz="1250" b="1" dirty="0">
                <a:solidFill>
                  <a:schemeClr val="tx1"/>
                </a:solidFill>
                <a:latin typeface="Work Sans"/>
              </a:rPr>
              <a:t>  </a:t>
            </a:r>
            <a:r>
              <a:rPr sz="1250" b="1" dirty="0" err="1">
                <a:solidFill>
                  <a:schemeClr val="tx1"/>
                </a:solidFill>
                <a:latin typeface="Work Sans"/>
              </a:rPr>
              <a:t>Categorias</a:t>
            </a:r>
            <a:r>
              <a:rPr sz="1250" b="1" dirty="0">
                <a:solidFill>
                  <a:schemeClr val="tx1"/>
                </a:solidFill>
                <a:latin typeface="Work Sans"/>
              </a:rPr>
              <a:t> de </a:t>
            </a:r>
            <a:r>
              <a:rPr sz="1250" b="1" dirty="0" err="1">
                <a:solidFill>
                  <a:schemeClr val="tx1"/>
                </a:solidFill>
                <a:latin typeface="Work Sans"/>
              </a:rPr>
              <a:t>Ajuste</a:t>
            </a:r>
            <a:r>
              <a:rPr sz="1250" b="1" dirty="0">
                <a:solidFill>
                  <a:schemeClr val="tx1"/>
                </a:solidFill>
                <a:latin typeface="Work Sans"/>
              </a:rPr>
              <a:t> </a:t>
            </a:r>
            <a:r>
              <a:rPr sz="1250" b="1" dirty="0" err="1">
                <a:solidFill>
                  <a:schemeClr val="tx1"/>
                </a:solidFill>
                <a:latin typeface="Work Sans"/>
              </a:rPr>
              <a:t>Maiores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 — 26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combinações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mais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frequentes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de CADG;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formam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os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ramos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da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árvore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de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decisão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dos GRA. </a:t>
            </a:r>
            <a:r>
              <a:rPr sz="850" i="1" dirty="0">
                <a:solidFill>
                  <a:schemeClr val="tx2"/>
                </a:solidFill>
                <a:latin typeface="Work Sans"/>
              </a:rPr>
              <a:t>(</a:t>
            </a:r>
            <a:r>
              <a:rPr sz="850" i="1" dirty="0" err="1">
                <a:solidFill>
                  <a:schemeClr val="tx2"/>
                </a:solidFill>
                <a:latin typeface="Work Sans"/>
              </a:rPr>
              <a:t>Relatório</a:t>
            </a:r>
            <a:r>
              <a:rPr sz="850" i="1" dirty="0">
                <a:solidFill>
                  <a:schemeClr val="tx2"/>
                </a:solidFill>
                <a:latin typeface="Work Sans"/>
              </a:rPr>
              <a:t> ACG, p.14)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 dirty="0">
                <a:solidFill>
                  <a:schemeClr val="accent1"/>
                </a:solidFill>
                <a:latin typeface="Work Sans"/>
              </a:rPr>
              <a:t>GD / GGD</a:t>
            </a:r>
            <a:r>
              <a:rPr sz="1250" b="1" dirty="0">
                <a:solidFill>
                  <a:schemeClr val="tx1"/>
                </a:solidFill>
                <a:latin typeface="Work Sans"/>
              </a:rPr>
              <a:t>  Grupo / Grande Grupo de </a:t>
            </a:r>
            <a:r>
              <a:rPr sz="1250" b="1" dirty="0" err="1">
                <a:solidFill>
                  <a:schemeClr val="tx1"/>
                </a:solidFill>
                <a:latin typeface="Work Sans"/>
              </a:rPr>
              <a:t>Diagnóstico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 —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agrupamentos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de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diagnósticos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indicados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por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utente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(o GGD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corresponde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ao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MEDC do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sistema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ACG). </a:t>
            </a:r>
            <a:r>
              <a:rPr sz="850" i="1" dirty="0">
                <a:solidFill>
                  <a:schemeClr val="tx2"/>
                </a:solidFill>
                <a:latin typeface="Work Sans"/>
              </a:rPr>
              <a:t>(Manual BI-ER, p.9, 21; </a:t>
            </a:r>
            <a:r>
              <a:rPr sz="850" i="1" dirty="0" err="1">
                <a:solidFill>
                  <a:schemeClr val="tx2"/>
                </a:solidFill>
                <a:latin typeface="Work Sans"/>
              </a:rPr>
              <a:t>Relatório</a:t>
            </a:r>
            <a:r>
              <a:rPr sz="850" i="1" dirty="0">
                <a:solidFill>
                  <a:schemeClr val="tx2"/>
                </a:solidFill>
                <a:latin typeface="Work Sans"/>
              </a:rPr>
              <a:t> ACG, p.25)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C4D56-AB05-EFDC-C5A8-75B62A3431A2}"/>
              </a:ext>
            </a:extLst>
          </p:cNvPr>
          <p:cNvSpPr txBox="1"/>
          <p:nvPr/>
        </p:nvSpPr>
        <p:spPr>
          <a:xfrm>
            <a:off x="6355080" y="4255970"/>
            <a:ext cx="53492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 dirty="0">
                <a:solidFill>
                  <a:schemeClr val="accent1"/>
                </a:solidFill>
                <a:latin typeface="Work Sans"/>
              </a:rPr>
              <a:t>IDRA</a:t>
            </a:r>
            <a:r>
              <a:rPr sz="1250" b="1" dirty="0">
                <a:solidFill>
                  <a:schemeClr val="tx1"/>
                </a:solidFill>
                <a:latin typeface="Work Sans"/>
              </a:rPr>
              <a:t>  </a:t>
            </a:r>
            <a:r>
              <a:rPr sz="1250" b="1" dirty="0" err="1">
                <a:solidFill>
                  <a:schemeClr val="tx1"/>
                </a:solidFill>
                <a:latin typeface="Work Sans"/>
              </a:rPr>
              <a:t>Índice</a:t>
            </a:r>
            <a:r>
              <a:rPr sz="1250" b="1" dirty="0">
                <a:solidFill>
                  <a:schemeClr val="tx1"/>
                </a:solidFill>
                <a:latin typeface="Work Sans"/>
              </a:rPr>
              <a:t> de Risco Ajustado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 —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casemix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dos GRA (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análogo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ao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dos GDH):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média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dos pesos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relativos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da população,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por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ULS e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nacional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. </a:t>
            </a:r>
            <a:r>
              <a:rPr sz="850" i="1" dirty="0">
                <a:solidFill>
                  <a:schemeClr val="tx2"/>
                </a:solidFill>
                <a:latin typeface="Work Sans"/>
              </a:rPr>
              <a:t>(Circular 4, p.5; Manual BI-ER, p.19)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 dirty="0" err="1">
                <a:solidFill>
                  <a:schemeClr val="accent1"/>
                </a:solidFill>
                <a:latin typeface="Work Sans"/>
              </a:rPr>
              <a:t>Pirâmide</a:t>
            </a:r>
            <a:r>
              <a:rPr sz="1250" b="1" dirty="0">
                <a:solidFill>
                  <a:schemeClr val="accent1"/>
                </a:solidFill>
                <a:latin typeface="Work Sans"/>
              </a:rPr>
              <a:t> de Kaiser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 —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organiza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a população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em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baixo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,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moderado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, alto e muito alto risco para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orientar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a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intervenção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. </a:t>
            </a:r>
            <a:r>
              <a:rPr sz="850" i="1" dirty="0">
                <a:solidFill>
                  <a:schemeClr val="tx2"/>
                </a:solidFill>
                <a:latin typeface="Work Sans"/>
              </a:rPr>
              <a:t>(Manual BI-ER, p.19; Circular 4, p.4)</a:t>
            </a:r>
          </a:p>
          <a:p>
            <a:pPr>
              <a:lnSpc>
                <a:spcPct val="102000"/>
              </a:lnSpc>
              <a:spcAft>
                <a:spcPts val="1000"/>
              </a:spcAft>
            </a:pPr>
            <a:r>
              <a:rPr sz="1250" b="1" dirty="0">
                <a:solidFill>
                  <a:schemeClr val="accent1"/>
                </a:solidFill>
                <a:latin typeface="Work Sans"/>
              </a:rPr>
              <a:t>Prob. de </a:t>
            </a:r>
            <a:r>
              <a:rPr sz="1250" b="1" dirty="0" err="1">
                <a:solidFill>
                  <a:schemeClr val="accent1"/>
                </a:solidFill>
                <a:latin typeface="Work Sans"/>
              </a:rPr>
              <a:t>internamento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 —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probabilidade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de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internamento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agudo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(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exclui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parto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 e </a:t>
            </a:r>
            <a:r>
              <a:rPr sz="1150" dirty="0" err="1">
                <a:solidFill>
                  <a:schemeClr val="tx2"/>
                </a:solidFill>
                <a:latin typeface="Work Sans"/>
              </a:rPr>
              <a:t>lesão</a:t>
            </a:r>
            <a:r>
              <a:rPr sz="1150" dirty="0">
                <a:solidFill>
                  <a:schemeClr val="tx2"/>
                </a:solidFill>
                <a:latin typeface="Work Sans"/>
              </a:rPr>
              <a:t>) a 6 e 12 meses. </a:t>
            </a:r>
            <a:r>
              <a:rPr sz="850" i="1" dirty="0">
                <a:solidFill>
                  <a:schemeClr val="tx2"/>
                </a:solidFill>
                <a:latin typeface="Work Sans"/>
              </a:rPr>
              <a:t>(JH v13.0, p.249; Manual BI-ER, p.9)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2800" b="1">
                <a:latin typeface="Bricolage Grotesque"/>
              </a:rPr>
              <a:t>Pirâmide de Kaiser na ER: base absoluta, topo relativo</a:t>
            </a:r>
          </a:p>
        </p:txBody>
      </p:sp>
      <p:pic>
        <p:nvPicPr>
          <p:cNvPr id="3" name="Picture 2" descr="kaiser_fig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572768"/>
            <a:ext cx="10424160" cy="18263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3444809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50" b="0">
                <a:solidFill>
                  <a:srgbClr val="566662"/>
                </a:solidFill>
                <a:latin typeface="Work Sans"/>
              </a:rPr>
              <a:t>Figura 10 «Pirâmide de Kaiser 2024» (nacional, dados atualizados a 16/10/2025), reproduzida de ACSS, Utilização dos Instrumentos de Estratificação da População pelo Risco no SNS 2025, Relatório Síntese, 23/12/2025, p. 11.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83137"/>
            <a:ext cx="3538728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731520" y="3966017"/>
            <a:ext cx="128016" cy="128016"/>
          </a:xfrm>
          <a:prstGeom prst="ellipse">
            <a:avLst/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3883721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0F7A6B"/>
                </a:solidFill>
                <a:latin typeface="Bricolage Grotesque"/>
              </a:rPr>
              <a:t>O que 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22049"/>
            <a:ext cx="3209544" cy="1682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12332E"/>
                </a:solidFill>
                <a:latin typeface="Work Sans"/>
              </a:rPr>
              <a:t>Modelo da Kaiser Permanente (EUA) que segmenta a população pela necessidade de cuidados: </a:t>
            </a:r>
            <a:r>
              <a:rPr sz="950" b="1">
                <a:solidFill>
                  <a:srgbClr val="12332E"/>
                </a:solidFill>
                <a:latin typeface="Work Sans"/>
              </a:rPr>
              <a:t>prevenção para todos, autogestão para os crónicos, gestão de caso para o alto risco.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12332E"/>
                </a:solidFill>
                <a:latin typeface="Work Sans"/>
              </a:rPr>
              <a:t>É um modelo conceptual: diz o que fazer a cada estrato, não onde traçar as fronteiras. Regra geral: cerca de 5% dos utentes ≈ 20% do consumo.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700" b="0">
                <a:solidFill>
                  <a:srgbClr val="566662"/>
                </a:solidFill>
                <a:latin typeface="Work Sans"/>
              </a:rPr>
              <a:t>OMS/Europa, Integrated care models, 2016, p. 25; Circular Normativa 4/2024, p.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9684" y="3783137"/>
            <a:ext cx="3538728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4494276" y="3966017"/>
            <a:ext cx="128016" cy="128016"/>
          </a:xfrm>
          <a:prstGeom prst="ellipse">
            <a:avLst/>
          </a:prstGeom>
          <a:solidFill>
            <a:srgbClr val="12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5444" y="3883721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12332E"/>
                </a:solidFill>
                <a:latin typeface="Bricolage Grotesque"/>
              </a:rPr>
              <a:t>Base: corte absoluto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4276" y="4222049"/>
            <a:ext cx="3209544" cy="1682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12332E"/>
                </a:solidFill>
                <a:latin typeface="Work Sans"/>
              </a:rPr>
              <a:t>O baixo risco define-se por classificação, não por percentil: </a:t>
            </a:r>
            <a:r>
              <a:rPr sz="950" b="1">
                <a:solidFill>
                  <a:srgbClr val="12332E"/>
                </a:solidFill>
                <a:latin typeface="Work Sans"/>
              </a:rPr>
              <a:t>GN 1 (não utilizador), 2 e 3 (necessidade baixa) e NUR 0, 1 e 2.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12332E"/>
                </a:solidFill>
                <a:latin typeface="Work Sans"/>
              </a:rPr>
              <a:t>Na figura aparece como «NA» na coluna Percentil. Se a população ficar mais saudável, esta base cresce. 2024: 5,75 milhões de utentes, cerca de 55% dos inscritos.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700" b="0">
                <a:solidFill>
                  <a:srgbClr val="566662"/>
                </a:solidFill>
                <a:latin typeface="Work Sans"/>
              </a:rPr>
              <a:t>Manual BI-ER, p. 19; Relatório Síntese 2025, p. 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783137"/>
            <a:ext cx="3538728" cy="22128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57031" y="3966017"/>
            <a:ext cx="128016" cy="128016"/>
          </a:xfrm>
          <a:prstGeom prst="ellipse">
            <a:avLst/>
          </a:prstGeom>
          <a:solidFill>
            <a:srgbClr val="D37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3883721"/>
            <a:ext cx="30358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>
                <a:solidFill>
                  <a:srgbClr val="D37A22"/>
                </a:solidFill>
                <a:latin typeface="Bricolage Grotesque"/>
              </a:rPr>
              <a:t>Topo: cortes relativos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4222049"/>
            <a:ext cx="3209544" cy="1682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12332E"/>
                </a:solidFill>
                <a:latin typeface="Work Sans"/>
              </a:rPr>
              <a:t>Moderado, alto e muito alto separam-se pelos </a:t>
            </a:r>
            <a:r>
              <a:rPr sz="950" b="1">
                <a:solidFill>
                  <a:srgbClr val="12332E"/>
                </a:solidFill>
                <a:latin typeface="Work Sans"/>
              </a:rPr>
              <a:t>percentis 80 e 95 dos pesos relativos, calculados só sobre a população com risco.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950" b="0">
                <a:solidFill>
                  <a:srgbClr val="12332E"/>
                </a:solidFill>
                <a:latin typeface="Work Sans"/>
              </a:rPr>
              <a:t>Por construção, cerca de 5% ficam sempre em muito alto, seja a população mais ou menos doente. O que muda é o limiar em pesos: em 2024, 4,36 (mínimo do muito alto). O nível absoluto de carga de doença mede-se pelo IDRA, não pela pirâmide.</a:t>
            </a:r>
          </a:p>
          <a:p>
            <a:pPr>
              <a:lnSpc>
                <a:spcPct val="106000"/>
              </a:lnSpc>
              <a:spcAft>
                <a:spcPts val="200"/>
              </a:spcAft>
            </a:pPr>
            <a:r>
              <a:rPr sz="700" b="0">
                <a:solidFill>
                  <a:srgbClr val="566662"/>
                </a:solidFill>
                <a:latin typeface="Work Sans"/>
              </a:rPr>
              <a:t>Manual BI-ER, p. 19; Relatório Síntese 2025, p. 11; Circular Normativa 4/2024, p.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050849"/>
            <a:ext cx="10607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00" b="0">
                <a:solidFill>
                  <a:srgbClr val="566662"/>
                </a:solidFill>
                <a:latin typeface="Work Sans"/>
              </a:rPr>
              <a:t>Os valores de 2024 (utentes por nível e limiar de peso) foram lidos na figura reproduzida; a percentagem de inscritos em baixo risco é cálculo a partir dos utentes da figura.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000" b="1">
                <a:latin typeface="Bricolage Grotesque"/>
              </a:rPr>
              <a:t>GRA: o Grupo de Risco Ajustado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627632"/>
            <a:ext cx="5120640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737360"/>
            <a:ext cx="47548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1300" b="1">
                <a:solidFill>
                  <a:srgbClr val="0F7A6B"/>
                </a:solidFill>
                <a:latin typeface="Bricolage Grotesque"/>
              </a:rPr>
              <a:t>O que é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12332E"/>
                </a:solidFill>
                <a:latin typeface="Work Sans"/>
              </a:rPr>
              <a:t>Categoria de morbilidade </a:t>
            </a:r>
            <a:r>
              <a:rPr sz="900" b="1">
                <a:solidFill>
                  <a:srgbClr val="12332E"/>
                </a:solidFill>
                <a:latin typeface="Work Sans"/>
              </a:rPr>
              <a:t>mutuamente exclusiva</a:t>
            </a:r>
            <a:r>
              <a:rPr sz="900" b="0">
                <a:solidFill>
                  <a:srgbClr val="12332E"/>
                </a:solidFill>
                <a:latin typeface="Work Sans"/>
              </a:rPr>
              <a:t> em que cada utente é agrupado, reunindo utentes semelhantes do ponto de vista demográfico, clínico e de consumo de recursos. </a:t>
            </a:r>
            <a:r>
              <a:rPr sz="900" b="1">
                <a:solidFill>
                  <a:srgbClr val="12332E"/>
                </a:solidFill>
                <a:latin typeface="Work Sans"/>
              </a:rPr>
              <a:t>176 GRA</a:t>
            </a:r>
            <a:r>
              <a:rPr sz="900" b="0">
                <a:solidFill>
                  <a:srgbClr val="12332E"/>
                </a:solidFill>
                <a:latin typeface="Work Sans"/>
              </a:rPr>
              <a:t> em uso em 2024.</a:t>
            </a:r>
          </a:p>
          <a:p>
            <a:pPr>
              <a:lnSpc>
                <a:spcPct val="106000"/>
              </a:lnSpc>
              <a:spcAft>
                <a:spcPts val="400"/>
              </a:spcAft>
            </a:pPr>
            <a:r>
              <a:rPr sz="900" b="1">
                <a:solidFill>
                  <a:srgbClr val="12332E"/>
                </a:solidFill>
                <a:latin typeface="Work Sans"/>
              </a:rPr>
              <a:t>Peso relativo. </a:t>
            </a:r>
            <a:r>
              <a:rPr sz="900" b="0">
                <a:solidFill>
                  <a:srgbClr val="12332E"/>
                </a:solidFill>
                <a:latin typeface="Work Sans"/>
              </a:rPr>
              <a:t>Cada GRA tem um coeficiente que traduz a carga de doença e o custo esperado do seu utente típico face ao utente típico nacional (= 1). Em Portugal é publicado por tipo etário (criança, adulto, adulto +). A média dos pesos de uma ULS é o IDRA.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Circular Normativa 4/2024, pp. 2 e 4; Rel. Síntese ACSS 2025, p. 12; documento ACG da ACSS, pp. 14–15 e 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07024" y="1627632"/>
            <a:ext cx="5724144" cy="19202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89904" y="17373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0F7A6B"/>
                </a:solidFill>
                <a:latin typeface="Bricolage Grotesque"/>
              </a:rPr>
              <a:t>Como se chega ao GRA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9904" y="2176272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35624" y="2212848"/>
            <a:ext cx="896112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950" b="1">
                <a:solidFill>
                  <a:srgbClr val="12332E"/>
                </a:solidFill>
                <a:latin typeface="Work Sans"/>
              </a:rPr>
              <a:t>Diagnósticos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ICD-10 e ICPC-2 de 12 meses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95744" y="2459736"/>
            <a:ext cx="105156" cy="0"/>
          </a:xfrm>
          <a:prstGeom prst="line">
            <a:avLst/>
          </a:prstGeom>
          <a:ln w="19050">
            <a:solidFill>
              <a:srgbClr val="5666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219188" y="2176272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4908" y="2212848"/>
            <a:ext cx="896112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950" b="1">
                <a:solidFill>
                  <a:srgbClr val="12332E"/>
                </a:solidFill>
                <a:latin typeface="Work Sans"/>
              </a:rPr>
              <a:t>32 GDA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grupos de diagnósticos agregados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5028" y="2459736"/>
            <a:ext cx="105156" cy="0"/>
          </a:xfrm>
          <a:prstGeom prst="line">
            <a:avLst/>
          </a:prstGeom>
          <a:ln w="19050">
            <a:solidFill>
              <a:srgbClr val="5666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48472" y="2176272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2212848"/>
            <a:ext cx="896112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950" b="1">
                <a:solidFill>
                  <a:srgbClr val="12332E"/>
                </a:solidFill>
                <a:latin typeface="Work Sans"/>
              </a:rPr>
              <a:t>12 GDAC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GDA colapsados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354312" y="2459736"/>
            <a:ext cx="105156" cy="0"/>
          </a:xfrm>
          <a:prstGeom prst="line">
            <a:avLst/>
          </a:prstGeom>
          <a:ln w="19050">
            <a:solidFill>
              <a:srgbClr val="5666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477756" y="2176272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523476" y="2212848"/>
            <a:ext cx="896112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950" b="1">
                <a:solidFill>
                  <a:srgbClr val="12332E"/>
                </a:solidFill>
                <a:latin typeface="Work Sans"/>
              </a:rPr>
              <a:t>26 CAM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combinações mais frequentes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483596" y="2459736"/>
            <a:ext cx="105156" cy="0"/>
          </a:xfrm>
          <a:prstGeom prst="line">
            <a:avLst/>
          </a:prstGeom>
          <a:ln w="19050">
            <a:solidFill>
              <a:srgbClr val="5666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0607040" y="2176272"/>
            <a:ext cx="987552" cy="566928"/>
          </a:xfrm>
          <a:prstGeom prst="roundRect">
            <a:avLst>
              <a:gd name="adj" fmla="val 12000"/>
            </a:avLst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652760" y="2212848"/>
            <a:ext cx="896112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Work Sans"/>
              </a:rPr>
              <a:t>GRA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650" b="0">
                <a:solidFill>
                  <a:srgbClr val="FFFFFF"/>
                </a:solidFill>
                <a:latin typeface="Work Sans"/>
              </a:rPr>
              <a:t>+ idade, sexo, n.º de GDA e de GDA major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2852928"/>
            <a:ext cx="53949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850" b="0">
                <a:solidFill>
                  <a:srgbClr val="12332E"/>
                </a:solidFill>
                <a:latin typeface="Work Sans"/>
              </a:rPr>
              <a:t>O GRA junta o padrão de doença ao contexto demográfico: um GRA «6–9 combinações de outros GDA» divide-se consoante o utente tem 0–1, 2, 3 ou 4+ GDA major, com pesos muito diferentes (ver tabela).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Documento ACG da ACSS, pp. 11–14 (passos 1 a 4); ACG v13.0 User Documentation, pp. 123–125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712463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1">
                <a:solidFill>
                  <a:srgbClr val="12332E"/>
                </a:solidFill>
                <a:latin typeface="Work Sans"/>
              </a:rPr>
              <a:t>Exemplos de GRA </a:t>
            </a:r>
            <a:r>
              <a:rPr sz="900" b="0">
                <a:solidFill>
                  <a:srgbClr val="566662"/>
                </a:solidFill>
                <a:latin typeface="Work Sans"/>
              </a:rPr>
              <a:t>(Anexo I do Despacho n.º 12986/2023, distribuição nacional de 2019; peso relativo arredondado a 2 casas)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66928" y="3968496"/>
          <a:ext cx="110642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Work Sans"/>
                        </a:rPr>
                        <a:t>GRA</a:t>
                      </a:r>
                    </a:p>
                  </a:txBody>
                  <a:tcPr marL="54864" marR="54864" marT="18288" marB="18288" anchor="ctr">
                    <a:solidFill>
                      <a:srgbClr val="1233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Work Sans"/>
                        </a:rPr>
                        <a:t>Descrição</a:t>
                      </a:r>
                    </a:p>
                  </a:txBody>
                  <a:tcPr marL="54864" marR="54864" marT="18288" marB="18288" anchor="ctr">
                    <a:solidFill>
                      <a:srgbClr val="12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Work Sans"/>
                        </a:rPr>
                        <a:t>Tipo etário</a:t>
                      </a:r>
                    </a:p>
                  </a:txBody>
                  <a:tcPr marL="54864" marR="54864" marT="18288" marB="18288" anchor="ctr">
                    <a:solidFill>
                      <a:srgbClr val="12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Work Sans"/>
                        </a:rPr>
                        <a:t>% utentes</a:t>
                      </a:r>
                    </a:p>
                  </a:txBody>
                  <a:tcPr marL="54864" marR="54864" marT="18288" marB="18288" anchor="ctr">
                    <a:solidFill>
                      <a:srgbClr val="1233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Work Sans"/>
                        </a:rPr>
                        <a:t>Peso relativo</a:t>
                      </a:r>
                    </a:p>
                  </a:txBody>
                  <a:tcPr marL="54864" marR="54864" marT="18288" marB="18288" anchor="ctr">
                    <a:solidFill>
                      <a:srgbClr val="123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5200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Não utilizadores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Todos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14,9 %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2332E"/>
                          </a:solidFill>
                          <a:latin typeface="Work Sans"/>
                        </a:rPr>
                        <a:t>0,00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5110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Sem diagnóstico ou só com diagnósticos não válidos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Adulto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11,1 %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2332E"/>
                          </a:solidFill>
                          <a:latin typeface="Work Sans"/>
                        </a:rPr>
                        <a:t>0,20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0300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Agudo minor, idade &gt; 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Adulto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4,2 %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2332E"/>
                          </a:solidFill>
                          <a:latin typeface="Work Sans"/>
                        </a:rPr>
                        <a:t>0,27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0900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Condição médica crónica, estável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Adulto +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2,4 %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2332E"/>
                          </a:solidFill>
                          <a:latin typeface="Work Sans"/>
                        </a:rPr>
                        <a:t>0,99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4100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2–3 combinações de outros GDA, idade &gt; 34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Adulto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5,9 %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2332E"/>
                          </a:solidFill>
                          <a:latin typeface="Work Sans"/>
                        </a:rPr>
                        <a:t>1,12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4100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2–3 combinações de outros GDA, idade &gt; 34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Adulto +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5,7 %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2332E"/>
                          </a:solidFill>
                          <a:latin typeface="Work Sans"/>
                        </a:rPr>
                        <a:t>1,82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4910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6–9 combinações de outros GDA, idade &gt; 34, 0–1 GDA major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Adulto 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1,0 %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2332E"/>
                          </a:solidFill>
                          <a:latin typeface="Work Sans"/>
                        </a:rPr>
                        <a:t>3,36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4930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6–9 combinações de outros GDA, idade &gt; 34, 3 GDA major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Adulto +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0,4 %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2332E"/>
                          </a:solidFill>
                          <a:latin typeface="Work Sans"/>
                        </a:rPr>
                        <a:t>8,58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17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5070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10+ combinações de outros GDA, idade &gt; 17, 4+ GDA major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Adulto +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2332E"/>
                          </a:solidFill>
                          <a:latin typeface="Work Sans"/>
                        </a:rPr>
                        <a:t>0,3 %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2332E"/>
                          </a:solidFill>
                          <a:latin typeface="Work Sans"/>
                        </a:rPr>
                        <a:t>17,81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6928" y="6364224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00" b="0">
                <a:solidFill>
                  <a:srgbClr val="566662"/>
                </a:solidFill>
                <a:latin typeface="Work Sans"/>
              </a:rPr>
              <a:t>Em 2024 os GRA mais prevalentes foram o 5110 (16,8 %), o 4100 (12,3 %) e o 5200 (11,5 %) — Rel. Síntese ACSS 2025, p. 12. O mesmo código tem pesos diferentes por tipo etário (4100: 1,12 no adulto, 1,82 no adulto +). GDA = Grupos de Diagnósticos Agregados.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000" b="1">
                <a:latin typeface="Bricolage Grotesque"/>
              </a:rPr>
              <a:t>GN e NUR: duas leituras do mesmo utente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627632"/>
            <a:ext cx="5943600" cy="4526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73736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0F7A6B"/>
                </a:solidFill>
                <a:latin typeface="Bricolage Grotesque"/>
              </a:rPr>
              <a:t>GN · Grupos de Necessidades ("Patient Need Groups")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048256"/>
            <a:ext cx="55778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50" b="0">
                <a:solidFill>
                  <a:srgbClr val="12332E"/>
                </a:solidFill>
                <a:latin typeface="Work Sans"/>
              </a:rPr>
              <a:t>Segmentação clínica, paralela ao GRA: 11 grupos mutuamente exclusivos, em 6 segmentos, definidos pelas necessidades de saúde e pelo contexto clínico. Serve para identificar tendências na população e desenhar intervenções por patologia, não para medir consumo.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670048"/>
            <a:ext cx="5577840" cy="594360"/>
          </a:xfrm>
          <a:prstGeom prst="roundRect">
            <a:avLst>
              <a:gd name="adj" fmla="val 1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2697479"/>
            <a:ext cx="182880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1">
                <a:solidFill>
                  <a:srgbClr val="0F7A6B"/>
                </a:solidFill>
                <a:latin typeface="Work Sans"/>
              </a:rPr>
              <a:t>Necessidade baixa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61488" y="2697479"/>
            <a:ext cx="3474720" cy="5394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12332E"/>
                </a:solidFill>
                <a:latin typeface="Work Sans"/>
              </a:rPr>
              <a:t>01 Não utilizador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12332E"/>
                </a:solidFill>
                <a:latin typeface="Work Sans"/>
              </a:rPr>
              <a:t>02 Necessidade baixa, criança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12332E"/>
                </a:solidFill>
                <a:latin typeface="Work Sans"/>
              </a:rPr>
              <a:t>03 Necessidade baixa, adulto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305556"/>
            <a:ext cx="5577840" cy="438912"/>
          </a:xfrm>
          <a:prstGeom prst="roundRect">
            <a:avLst>
              <a:gd name="adj" fmla="val 1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333298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1">
                <a:solidFill>
                  <a:srgbClr val="0F7A6B"/>
                </a:solidFill>
                <a:latin typeface="Work Sans"/>
              </a:rPr>
              <a:t>Necessidade moderada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3332988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12332E"/>
                </a:solidFill>
                <a:latin typeface="Work Sans"/>
              </a:rPr>
              <a:t>04 Multimorbilidade, baixa complexidade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12332E"/>
                </a:solidFill>
                <a:latin typeface="Work Sans"/>
              </a:rPr>
              <a:t>05 Multimorbilidade, complexidade média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785616"/>
            <a:ext cx="5577840" cy="438912"/>
          </a:xfrm>
          <a:prstGeom prst="roundRect">
            <a:avLst>
              <a:gd name="adj" fmla="val 1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9536" y="381304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1">
                <a:solidFill>
                  <a:srgbClr val="0F7A6B"/>
                </a:solidFill>
                <a:latin typeface="Work Sans"/>
              </a:rPr>
              <a:t>Gravidez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61488" y="3813048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12332E"/>
                </a:solidFill>
                <a:latin typeface="Work Sans"/>
              </a:rPr>
              <a:t>06 Gravidez, baixa complexidade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12332E"/>
                </a:solidFill>
                <a:latin typeface="Work Sans"/>
              </a:rPr>
              <a:t>07 Gravidez, alta complexidade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4265676"/>
            <a:ext cx="5577840" cy="438912"/>
          </a:xfrm>
          <a:prstGeom prst="roundRect">
            <a:avLst>
              <a:gd name="adj" fmla="val 1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4293108"/>
            <a:ext cx="18288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1">
                <a:solidFill>
                  <a:srgbClr val="0F7A6B"/>
                </a:solidFill>
                <a:latin typeface="Work Sans"/>
              </a:rPr>
              <a:t>Condição dominante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4293108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12332E"/>
                </a:solidFill>
                <a:latin typeface="Work Sans"/>
              </a:rPr>
              <a:t>08 Condição psiquiátrica/comportamental dominante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12332E"/>
                </a:solidFill>
                <a:latin typeface="Work Sans"/>
              </a:rPr>
              <a:t>09 Condição crónica major dominante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" y="4745736"/>
            <a:ext cx="5577840" cy="283464"/>
          </a:xfrm>
          <a:prstGeom prst="roundRect">
            <a:avLst>
              <a:gd name="adj" fmla="val 1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4773168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1">
                <a:solidFill>
                  <a:srgbClr val="0F7A6B"/>
                </a:solidFill>
                <a:latin typeface="Work Sans"/>
              </a:rPr>
              <a:t>Multimorbilidade de alta complexidade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4773168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12332E"/>
                </a:solidFill>
                <a:latin typeface="Work Sans"/>
              </a:rPr>
              <a:t>10 Multimorbilidade, alta complexidade (crónicas major e instáveis)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070348"/>
            <a:ext cx="5577840" cy="283464"/>
          </a:xfrm>
          <a:prstGeom prst="roundRect">
            <a:avLst>
              <a:gd name="adj" fmla="val 1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509778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00" b="1">
                <a:solidFill>
                  <a:srgbClr val="0F7A6B"/>
                </a:solidFill>
                <a:latin typeface="Work Sans"/>
              </a:rPr>
              <a:t>Fragilidade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5097780"/>
            <a:ext cx="34747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750" b="0">
                <a:solidFill>
                  <a:srgbClr val="12332E"/>
                </a:solidFill>
                <a:latin typeface="Work Sans"/>
              </a:rPr>
              <a:t>11 Fragilidade (65+ anos, 2 ou mais conceitos de fragilidade)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31536"/>
            <a:ext cx="55778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100"/>
              </a:spcAft>
            </a:pPr>
            <a:r>
              <a:rPr sz="700" b="0">
                <a:solidFill>
                  <a:srgbClr val="12332E"/>
                </a:solidFill>
                <a:latin typeface="Work Sans"/>
              </a:rPr>
              <a:t>2018, 8 ULS: 32 % dos utentes no GN 3 e 22 % no GN 4; só 0,16 % no GN 11. </a:t>
            </a:r>
            <a:r>
              <a:rPr sz="700" b="0">
                <a:solidFill>
                  <a:srgbClr val="566662"/>
                </a:solidFill>
                <a:latin typeface="Work Sans"/>
              </a:rPr>
              <a:t>Nomes em português do manual BI-ER (GN 1–3) e tradução dos restantes a partir da documentação Johns Hopkins.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ACG v13.0 User Documentation, pp. 253–254; documento ACG da ACSS, pp. 16 e 28; manual BI-ER, pp. 9 e 19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29984" y="1627632"/>
            <a:ext cx="4901184" cy="4526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912864" y="1737360"/>
            <a:ext cx="453542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D37A22"/>
                </a:solidFill>
                <a:latin typeface="Bricolage Grotesque"/>
              </a:rPr>
              <a:t>NUR · Níveis de Utilização de Recursos ("RUB")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2048256"/>
            <a:ext cx="4535424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850" b="0">
                <a:solidFill>
                  <a:srgbClr val="12332E"/>
                </a:solidFill>
                <a:latin typeface="Work Sans"/>
              </a:rPr>
              <a:t>Seis classes que colapsam os GRA pelo consumo esperado de recursos. Existem porque GRA clinicamente diferentes podem consumir o mesmo: uma grávida com complicações, um doente psiquiátrico grave e um doente com duas crónicas ficam em GRA distintos mas no mesmo NUR.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912864" y="2926080"/>
          <a:ext cx="4535424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08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Work Sans"/>
                        </a:rPr>
                        <a:t>NUR</a:t>
                      </a:r>
                    </a:p>
                  </a:txBody>
                  <a:tcPr marL="54864" marR="54864" marT="18288" marB="18288" anchor="ctr">
                    <a:solidFill>
                      <a:srgbClr val="1233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Work Sans"/>
                        </a:rPr>
                        <a:t>Classe</a:t>
                      </a:r>
                    </a:p>
                  </a:txBody>
                  <a:tcPr marL="54864" marR="54864" marT="18288" marB="18288" anchor="ctr">
                    <a:solidFill>
                      <a:srgbClr val="1233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Work Sans"/>
                        </a:rPr>
                        <a:t>Exemplos de GRA (Anexo I, 2019)</a:t>
                      </a:r>
                    </a:p>
                  </a:txBody>
                  <a:tcPr marL="54864" marR="54864" marT="18288" marB="18288" anchor="ctr">
                    <a:solidFill>
                      <a:srgbClr val="1233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Work Sans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8A9A9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32E"/>
                          </a:solidFill>
                          <a:latin typeface="Work Sans"/>
                        </a:rPr>
                        <a:t>Sem diagnóstico ou diagnósticos inválidos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32E"/>
                          </a:solidFill>
                          <a:latin typeface="Work Sans"/>
                        </a:rPr>
                        <a:t>5200 Não utilizadores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Work Sans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5FA39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32E"/>
                          </a:solidFill>
                          <a:latin typeface="Work Sans"/>
                        </a:rPr>
                        <a:t>Utentes saudáveis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32E"/>
                          </a:solidFill>
                          <a:latin typeface="Work Sans"/>
                        </a:rPr>
                        <a:t>5110 Sem diagnóstico; 0300 Agudo minor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Work Sans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0F7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32E"/>
                          </a:solidFill>
                          <a:latin typeface="Work Sans"/>
                        </a:rPr>
                        <a:t>Consumo baixo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32E"/>
                          </a:solidFill>
                          <a:latin typeface="Work Sans"/>
                        </a:rPr>
                        <a:t>0900 Crónica estável; 0400 Agudo major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Work Sans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32E"/>
                          </a:solidFill>
                          <a:latin typeface="Work Sans"/>
                        </a:rPr>
                        <a:t>Consumo moderado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32E"/>
                          </a:solidFill>
                          <a:latin typeface="Work Sans"/>
                        </a:rPr>
                        <a:t>4100 2–3 GDA; 4910 6–9 GDA, 0–1 major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Work Sans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D37A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32E"/>
                          </a:solidFill>
                          <a:latin typeface="Work Sans"/>
                        </a:rPr>
                        <a:t>Consumo alto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32E"/>
                          </a:solidFill>
                          <a:latin typeface="Work Sans"/>
                        </a:rPr>
                        <a:t>4920 6–9 GDA, 2 major; 4430 4–5 GDA, 2+ major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Work Sans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B847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2332E"/>
                          </a:solidFill>
                          <a:latin typeface="Work Sans"/>
                        </a:rPr>
                        <a:t>Consumo muito alto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 dirty="0">
                          <a:solidFill>
                            <a:srgbClr val="12332E"/>
                          </a:solidFill>
                          <a:latin typeface="Work Sans"/>
                        </a:rPr>
                        <a:t>4930 6–9 GDA, 3 major; 5070 10+ GDA, 4+ major</a:t>
                      </a:r>
                    </a:p>
                  </a:txBody>
                  <a:tcPr marL="54864" marR="54864" marT="18288" marB="18288" anchor="ctr">
                    <a:solidFill>
                      <a:srgbClr val="E0EE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912864" y="4937760"/>
            <a:ext cx="4535424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300"/>
              </a:spcAft>
            </a:pPr>
            <a:r>
              <a:rPr sz="800" b="1">
                <a:solidFill>
                  <a:srgbClr val="12332E"/>
                </a:solidFill>
                <a:latin typeface="Work Sans"/>
              </a:rPr>
              <a:t>Custos 2018 (8 ULS): </a:t>
            </a:r>
            <a:r>
              <a:rPr sz="800" b="0">
                <a:solidFill>
                  <a:srgbClr val="12332E"/>
                </a:solidFill>
                <a:latin typeface="Work Sans"/>
              </a:rPr>
              <a:t>cerca de 31 % dos utentes nos NUR 0 e 1 (custo médio 146 €) e cerca de 8 % nos NUR 4 e 5 (1 896 € e 5 084 €). Relação inversa entre número de utentes e custo médio.</a:t>
            </a:r>
          </a:p>
          <a:p>
            <a:pPr>
              <a:lnSpc>
                <a:spcPct val="106000"/>
              </a:lnSpc>
              <a:spcAft>
                <a:spcPts val="300"/>
              </a:spcAft>
            </a:pPr>
            <a:r>
              <a:rPr sz="800" b="0">
                <a:solidFill>
                  <a:srgbClr val="12332E"/>
                </a:solidFill>
                <a:latin typeface="Work Sans"/>
              </a:rPr>
              <a:t>Na pirâmide de Kaiser da ER, o baixo risco é definido por GN 1–3 e NUR 0–2; os restantes níveis por percentis do peso relativo.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Documento ACG da ACSS, pp. 15–16 e 26–27; ACG v13.0 Technical Reference, p. 31; Despacho 12986/2023, Anexo I; manual BI-ER, p. 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254496"/>
            <a:ext cx="11064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700" b="0">
                <a:solidFill>
                  <a:srgbClr val="566662"/>
                </a:solidFill>
                <a:latin typeface="Work Sans"/>
              </a:rPr>
              <a:t>GN responde a «que tipo de necessidade tem este utente?»; NUR responde a «quanto se espera que consuma?». Ambos são outputs do agrupador, atribuídos a cada utente em paralelo com o GRA (manual BI-ER, p. 9).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000" b="1">
                <a:latin typeface="Bricolage Grotesque"/>
              </a:rPr>
              <a:t>IDRA e financiamento: o paradoxo da prevenção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" y="1664208"/>
            <a:ext cx="1938528" cy="713232"/>
          </a:xfrm>
          <a:prstGeom prst="roundRect">
            <a:avLst>
              <a:gd name="adj" fmla="val 18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719072"/>
            <a:ext cx="1755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2332E"/>
                </a:solidFill>
                <a:latin typeface="Bricolage Grotesque"/>
              </a:rPr>
              <a:t>Prevenção e bons cuidados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51176" y="2020824"/>
            <a:ext cx="251460" cy="0"/>
          </a:xfrm>
          <a:prstGeom prst="line">
            <a:avLst/>
          </a:prstGeom>
          <a:ln w="25400">
            <a:solidFill>
              <a:srgbClr val="5666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48356" y="1664208"/>
            <a:ext cx="1938528" cy="713232"/>
          </a:xfrm>
          <a:prstGeom prst="roundRect">
            <a:avLst>
              <a:gd name="adj" fmla="val 18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39796" y="1719072"/>
            <a:ext cx="1755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2332E"/>
                </a:solidFill>
                <a:latin typeface="Bricolage Grotesque"/>
              </a:rPr>
              <a:t>Menos diagnósticos, e menos graves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832604" y="2020824"/>
            <a:ext cx="251460" cy="0"/>
          </a:xfrm>
          <a:prstGeom prst="line">
            <a:avLst/>
          </a:prstGeom>
          <a:ln w="25400">
            <a:solidFill>
              <a:srgbClr val="5666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9784" y="1664208"/>
            <a:ext cx="1938528" cy="713232"/>
          </a:xfrm>
          <a:prstGeom prst="roundRect">
            <a:avLst>
              <a:gd name="adj" fmla="val 18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21224" y="1719072"/>
            <a:ext cx="1755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12332E"/>
                </a:solidFill>
                <a:latin typeface="Bricolage Grotesque"/>
              </a:rPr>
              <a:t>GRA mais leves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14032" y="2020824"/>
            <a:ext cx="251460" cy="0"/>
          </a:xfrm>
          <a:prstGeom prst="line">
            <a:avLst/>
          </a:prstGeom>
          <a:ln w="25400">
            <a:solidFill>
              <a:srgbClr val="5666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411212" y="1664208"/>
            <a:ext cx="1938528" cy="713232"/>
          </a:xfrm>
          <a:prstGeom prst="roundRect">
            <a:avLst>
              <a:gd name="adj" fmla="val 18000"/>
            </a:avLst>
          </a:prstGeom>
          <a:solidFill>
            <a:srgbClr val="0F7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02652" y="1719072"/>
            <a:ext cx="1755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Bricolage Grotesque"/>
              </a:rPr>
              <a:t>IDRA desce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95460" y="2020824"/>
            <a:ext cx="251460" cy="0"/>
          </a:xfrm>
          <a:prstGeom prst="line">
            <a:avLst/>
          </a:prstGeom>
          <a:ln w="25400">
            <a:solidFill>
              <a:srgbClr val="56666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92640" y="1664208"/>
            <a:ext cx="1938528" cy="713232"/>
          </a:xfrm>
          <a:prstGeom prst="roundRect">
            <a:avLst>
              <a:gd name="adj" fmla="val 18000"/>
            </a:avLst>
          </a:prstGeom>
          <a:solidFill>
            <a:srgbClr val="B84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784080" y="1719072"/>
            <a:ext cx="1755648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Bricolage Grotesque"/>
              </a:rPr>
              <a:t>Financiamento desce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615184"/>
            <a:ext cx="5422392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" y="2761488"/>
            <a:ext cx="4965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D37A22"/>
                </a:solidFill>
                <a:latin typeface="Bricolage Grotesque"/>
              </a:rPr>
              <a:t>Sobem o IDRA sem melhorar a saúde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218688"/>
            <a:ext cx="4965192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D37A22"/>
                </a:solidFill>
                <a:latin typeface="Work Sans"/>
              </a:rPr>
              <a:t>•  </a:t>
            </a:r>
            <a:r>
              <a:rPr sz="1200" b="1">
                <a:solidFill>
                  <a:srgbClr val="12332E"/>
                </a:solidFill>
                <a:latin typeface="Work Sans"/>
              </a:rPr>
              <a:t>Mais registo. </a:t>
            </a:r>
            <a:r>
              <a:rPr sz="1200" b="0">
                <a:solidFill>
                  <a:srgbClr val="12332E"/>
                </a:solidFill>
                <a:latin typeface="Work Sans"/>
              </a:rPr>
              <a:t>Registar mais diagnósticos e renová-los todos os anos.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D37A22"/>
                </a:solidFill>
                <a:latin typeface="Work Sans"/>
              </a:rPr>
              <a:t>•  </a:t>
            </a:r>
            <a:r>
              <a:rPr sz="1200" b="1">
                <a:solidFill>
                  <a:srgbClr val="12332E"/>
                </a:solidFill>
                <a:latin typeface="Work Sans"/>
              </a:rPr>
              <a:t>Mais gravidade. </a:t>
            </a:r>
            <a:r>
              <a:rPr sz="1200" b="0">
                <a:solidFill>
                  <a:srgbClr val="12332E"/>
                </a:solidFill>
                <a:latin typeface="Work Sans"/>
              </a:rPr>
              <a:t>Codificar a mesma doença com códigos mais graves.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D37A22"/>
                </a:solidFill>
                <a:latin typeface="Work Sans"/>
              </a:rPr>
              <a:t>•  </a:t>
            </a:r>
            <a:r>
              <a:rPr sz="1200" b="1">
                <a:solidFill>
                  <a:srgbClr val="12332E"/>
                </a:solidFill>
                <a:latin typeface="Work Sans"/>
              </a:rPr>
              <a:t>Mais utilizadores. </a:t>
            </a:r>
            <a:r>
              <a:rPr sz="1200" b="0">
                <a:solidFill>
                  <a:srgbClr val="12332E"/>
                </a:solidFill>
                <a:latin typeface="Work Sans"/>
              </a:rPr>
              <a:t>Um contacto chega para o utente deixar de ter peso zero.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2615184"/>
            <a:ext cx="5422392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37376" y="2761488"/>
            <a:ext cx="49651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>
                <a:solidFill>
                  <a:srgbClr val="0F7A6B"/>
                </a:solidFill>
                <a:latin typeface="Bricolage Grotesque"/>
              </a:rPr>
              <a:t>Melhoram a saúde e baixam o IDRA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3218688"/>
            <a:ext cx="4965192" cy="13715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0F7A6B"/>
                </a:solidFill>
                <a:latin typeface="Work Sans"/>
              </a:rPr>
              <a:t>•  </a:t>
            </a:r>
            <a:r>
              <a:rPr sz="1200" b="1">
                <a:solidFill>
                  <a:srgbClr val="12332E"/>
                </a:solidFill>
                <a:latin typeface="Work Sans"/>
              </a:rPr>
              <a:t>Prevenção. </a:t>
            </a:r>
            <a:r>
              <a:rPr sz="1200" b="0">
                <a:solidFill>
                  <a:srgbClr val="12332E"/>
                </a:solidFill>
                <a:latin typeface="Work Sans"/>
              </a:rPr>
              <a:t>Menos doença nova, menos diagnósticos.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0F7A6B"/>
                </a:solidFill>
                <a:latin typeface="Work Sans"/>
              </a:rPr>
              <a:t>•  </a:t>
            </a:r>
            <a:r>
              <a:rPr sz="1200" b="1">
                <a:solidFill>
                  <a:srgbClr val="12332E"/>
                </a:solidFill>
                <a:latin typeface="Work Sans"/>
              </a:rPr>
              <a:t>Doença crónica controlada. </a:t>
            </a:r>
            <a:r>
              <a:rPr sz="1200" b="0">
                <a:solidFill>
                  <a:srgbClr val="12332E"/>
                </a:solidFill>
                <a:latin typeface="Work Sans"/>
              </a:rPr>
              <a:t>Menos complicações e menos eventos agudos graves.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200" b="1">
                <a:solidFill>
                  <a:srgbClr val="0F7A6B"/>
                </a:solidFill>
                <a:latin typeface="Work Sans"/>
              </a:rPr>
              <a:t>•  </a:t>
            </a:r>
            <a:r>
              <a:rPr sz="1200" b="1">
                <a:solidFill>
                  <a:srgbClr val="12332E"/>
                </a:solidFill>
                <a:latin typeface="Work Sans"/>
              </a:rPr>
              <a:t>Doentes autónomos, menos internamentos. </a:t>
            </a:r>
            <a:r>
              <a:rPr sz="1200" b="0">
                <a:solidFill>
                  <a:srgbClr val="12332E"/>
                </a:solidFill>
                <a:latin typeface="Work Sans"/>
              </a:rPr>
              <a:t>Menos episódios, menos diagnósticos registados no ano.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864608"/>
            <a:ext cx="11064240" cy="1060704"/>
          </a:xfrm>
          <a:prstGeom prst="roundRect">
            <a:avLst>
              <a:gd name="adj" fmla="val 10000"/>
            </a:avLst>
          </a:prstGeom>
          <a:solidFill>
            <a:srgbClr val="1233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60" y="4974336"/>
            <a:ext cx="10561320" cy="8412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Bricolage Grotesque"/>
              </a:rPr>
              <a:t>O modelo paga a necessidade registada, não o resultado.</a:t>
            </a:r>
          </a:p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000" b="0">
                <a:solidFill>
                  <a:srgbClr val="CFE3DD"/>
                </a:solidFill>
                <a:latin typeface="Work Sans"/>
              </a:rPr>
              <a:t>A capitação aplica o IDRA, a média dos pesos relativos de todos os inscritos, à capita de cada utente. A ACSS tem a intenção de introduzir um fator compensatório para quem melhore a saúde dos utentes e diminua o IDRA, quando os registos de diagnósticos estiverem mais normalizados.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998464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00" b="0">
                <a:solidFill>
                  <a:srgbClr val="566662"/>
                </a:solidFill>
                <a:latin typeface="Work Sans"/>
              </a:rPr>
              <a:t>Fontes: Circular Normativa 4/2024/ACSS, pp. 4, 5 e 7; documento ACG da ACSS, pp. 14 e 31; manual BI-ER (SPMS, v1.6), p. 6; Despacho n.º 12986/2023, Anexo I; ACSS, Relatório do projeto de operacionalização da ER, dezembro de 2025, p. 30. Os efeitos listados decorrem das regras do modelo; a sua dimensão não está medida nas fontes.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000" b="1">
                <a:latin typeface="Bricolage Grotesque"/>
              </a:rPr>
              <a:t>BI-ER, análises ad-hoc (1/2): «Base» e «GGD/GD»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536192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66662"/>
                </a:solidFill>
                <a:latin typeface="Work Sans"/>
              </a:rPr>
              <a:t>Campos por separador, conforme a Tabela 5 do manual BI-ER (SPMS, v1.6, 08/2026, pp. 21–23). Os campos do separador «Base» estão agrupados por tema; «Ano» e «NNU» existem em todos os separadores.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3566160" cy="21579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2369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A6B"/>
                </a:solidFill>
                <a:latin typeface="Bricolage Grotesque"/>
              </a:rPr>
              <a:t>Base · identificação e tempo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66662"/>
                </a:solidFill>
                <a:latin typeface="Work Sans"/>
              </a:rPr>
              <a:t>Um registo por utente e ano (dados desde 2021; 12 meses por ano).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87168"/>
            <a:ext cx="305409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Ano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1793" y="2487168"/>
            <a:ext cx="305409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NNU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52067" y="2487168"/>
            <a:ext cx="1100937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Data de nascimento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7868" y="2487168"/>
            <a:ext cx="411480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Idade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74212" y="2487168"/>
            <a:ext cx="358444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Sexo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34056"/>
            <a:ext cx="835761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Data de óbito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67327"/>
            <a:ext cx="3236976" cy="1645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Manual BI-ER, pp. 6 e 21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828800"/>
            <a:ext cx="3566160" cy="21579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59" y="1920240"/>
            <a:ext cx="32369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A6B"/>
                </a:solidFill>
                <a:latin typeface="Bricolage Grotesque"/>
              </a:rPr>
              <a:t>Base · geodemográficas e inscrição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212848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66662"/>
                </a:solidFill>
                <a:latin typeface="Work Sans"/>
              </a:rPr>
              <a:t>Origem: Registo Nacional de Utentes (RNU), à data de 31 de dezembro.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2487168"/>
            <a:ext cx="1313078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Distrito de residência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48502" y="2487168"/>
            <a:ext cx="1313078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Concelho de residência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2734056"/>
            <a:ext cx="1366113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Freguesia de residência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01537" y="2734056"/>
            <a:ext cx="1313078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UF (unidade funcional)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2980944"/>
            <a:ext cx="1047902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Médico de família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767327"/>
            <a:ext cx="3236976" cy="1645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Manual BI-ER, pp. 6 e 21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7" y="1828800"/>
            <a:ext cx="3566160" cy="21579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9" y="1920240"/>
            <a:ext cx="32369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37A22"/>
                </a:solidFill>
                <a:latin typeface="Bricolage Grotesque"/>
              </a:rPr>
              <a:t>Base · estratificação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2212848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66662"/>
                </a:solidFill>
                <a:latin typeface="Work Sans"/>
              </a:rPr>
              <a:t>Outputs do agrupador ACG v13.0 e da pirâmide de Kaiser.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9" y="2487168"/>
            <a:ext cx="305409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GRA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89873" y="2487168"/>
            <a:ext cx="835761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Peso relativo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80499" y="2487168"/>
            <a:ext cx="305409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NUR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40772" y="2487168"/>
            <a:ext cx="252374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GN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48011" y="2487168"/>
            <a:ext cx="888796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Nível de risco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599" y="2734056"/>
            <a:ext cx="1525219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Prob. internamento 6 meses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09683" y="2734056"/>
            <a:ext cx="1578254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Prob. internamento 12 meses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9" y="3767327"/>
            <a:ext cx="3236976" cy="1645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Manual BI-ER, pp. 9, 19 e 21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096511"/>
            <a:ext cx="5440680" cy="21579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4187951"/>
            <a:ext cx="51114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37A22"/>
                </a:solidFill>
                <a:latin typeface="Bricolage Grotesque"/>
              </a:rPr>
              <a:t>Base · carga de doença e utilização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480559"/>
            <a:ext cx="5111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66662"/>
                </a:solidFill>
                <a:latin typeface="Work Sans"/>
              </a:rPr>
              <a:t>Contadores anuais por utente.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754879"/>
            <a:ext cx="994867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N.º diagnósticos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81251" y="4754879"/>
            <a:ext cx="1260043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N.º princípios ativos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96158" y="4754879"/>
            <a:ext cx="835761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N.º urgências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86784" y="4754879"/>
            <a:ext cx="1366113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N.º urgências evitáveis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5001767"/>
            <a:ext cx="1047902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N.º internamentos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34286" y="5001767"/>
            <a:ext cx="1100937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Tipo de informação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6035040"/>
            <a:ext cx="5111496" cy="1645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Manual BI-ER, pp. 17 e 21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0488" y="4096511"/>
            <a:ext cx="5440680" cy="215798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55080" y="4187951"/>
            <a:ext cx="511149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A6B"/>
                </a:solidFill>
                <a:latin typeface="Bricolage Grotesque"/>
              </a:rPr>
              <a:t>GGD/GD · diagnósticos agrupados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4480559"/>
            <a:ext cx="511149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66662"/>
                </a:solidFill>
                <a:latin typeface="Work Sans"/>
              </a:rPr>
              <a:t>Um registo por utente e grupo de diagnóstico: 287 GD agregados em 27 GGD; um utente pode ter vários.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4754879"/>
            <a:ext cx="305409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Ano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15353" y="4754879"/>
            <a:ext cx="305409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NNU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75627" y="4754879"/>
            <a:ext cx="1896465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GGD · Grande Grupo de Diagnóstico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26956" y="4754879"/>
            <a:ext cx="1472184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GD · Grupo de Diagnóstico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554004" y="4754879"/>
            <a:ext cx="676656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GD crónico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6035040"/>
            <a:ext cx="5111496" cy="1645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Manual BI-ER, pp. 9 e 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rPr sz="3000" b="1">
                <a:latin typeface="Bricolage Grotesque"/>
              </a:rPr>
              <a:t>BI-ER, análises ad-hoc (2/2): contactos e custos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536192"/>
            <a:ext cx="110642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00" b="0">
                <a:solidFill>
                  <a:srgbClr val="566662"/>
                </a:solidFill>
                <a:latin typeface="Work Sans"/>
              </a:rPr>
              <a:t>Campos por separador, conforme a Tabela 5 do manual BI-ER (SPMS, v1.6, 08/2026, pp. 21–23). Todos os separadores incluem «Ano» e «NNU».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828800"/>
            <a:ext cx="3566160" cy="206654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32369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A6B"/>
                </a:solidFill>
                <a:latin typeface="Bricolage Grotesque"/>
              </a:rPr>
              <a:t>Consultas CSP · diagnósticos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12848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66662"/>
                </a:solidFill>
                <a:latin typeface="Work Sans"/>
              </a:rPr>
              <a:t>Diagnósticos ICPC-2E registados em consulta no ano (SClínico CSP).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87168"/>
            <a:ext cx="994867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Data da consulta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1251" y="2487168"/>
            <a:ext cx="1313078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Categoria profissional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49193" y="2487168"/>
            <a:ext cx="729691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Diagnóstico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34056"/>
            <a:ext cx="994867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ULS de inscrição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81251" y="2734056"/>
            <a:ext cx="941832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UF de inscrição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7947" y="2734056"/>
            <a:ext cx="994867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UF do episódio *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80944"/>
            <a:ext cx="835761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N.º episódios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75887"/>
            <a:ext cx="3236976" cy="1645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Manual BI-ER, pp. 6 e 21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1828800"/>
            <a:ext cx="3566160" cy="206654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59" y="1920240"/>
            <a:ext cx="32369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0F7A6B"/>
                </a:solidFill>
                <a:latin typeface="Bricolage Grotesque"/>
              </a:rPr>
              <a:t>CSP · problemas ativos  |  Medicamentos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2212848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66662"/>
                </a:solidFill>
                <a:latin typeface="Work Sans"/>
              </a:rPr>
              <a:t>Dois separadores. Problemas ativos no ano (ICPC-2E); medicamentos dispensados em farmácia comunitária.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2487168"/>
            <a:ext cx="994867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Data da consulta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0291" y="2487168"/>
            <a:ext cx="729691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Diagnóstico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4846" y="2487168"/>
            <a:ext cx="835761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N.º episódios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2734056"/>
            <a:ext cx="729691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Medicamento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3675887"/>
            <a:ext cx="3236976" cy="1645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Manual BI-ER, pp. 6, 22 e 23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7" y="1828800"/>
            <a:ext cx="3566160" cy="206654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29599" y="1920240"/>
            <a:ext cx="32369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37A22"/>
                </a:solidFill>
                <a:latin typeface="Bricolage Grotesque"/>
              </a:rPr>
              <a:t>Internamentos  |  Ambulatórios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9" y="2212848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66662"/>
                </a:solidFill>
                <a:latin typeface="Work Sans"/>
              </a:rPr>
              <a:t>Dois separadores (diagnósticos/procedimentos), em GDH (SIMH e SIGLIC). Campos iguais, exceto as datas.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599" y="2487168"/>
            <a:ext cx="888796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N.º processo *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73260" y="2487168"/>
            <a:ext cx="888796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N.º episódio *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16921" y="2487168"/>
            <a:ext cx="941832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Data de entrada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599" y="2734056"/>
            <a:ext cx="782726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Data de alta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67190" y="2734056"/>
            <a:ext cx="1100937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Data (ambulatório)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222991" y="2734056"/>
            <a:ext cx="305409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GCD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583265" y="2734056"/>
            <a:ext cx="305409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GDH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599" y="2980944"/>
            <a:ext cx="729691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Tipo de GDH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14155" y="2980944"/>
            <a:ext cx="1153972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Nível de severidade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22992" y="2980944"/>
            <a:ext cx="1207008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Risco de mortalidade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599" y="3227832"/>
            <a:ext cx="1525219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Diagnóstico / procedimento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09683" y="3227832"/>
            <a:ext cx="1153972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Ordem do dx / proc.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599" y="3474720"/>
            <a:ext cx="994867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ULS de inscrição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79331" y="3474720"/>
            <a:ext cx="835761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N.º episódios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9" y="3675887"/>
            <a:ext cx="3236976" cy="1645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Manual BI-ER, pp. 6–7 e 22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005072"/>
            <a:ext cx="3566160" cy="206654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4096511"/>
            <a:ext cx="32369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37A22"/>
                </a:solidFill>
                <a:latin typeface="Bricolage Grotesque"/>
              </a:rPr>
              <a:t>Urgências hospitalares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4389120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66662"/>
                </a:solidFill>
                <a:latin typeface="Work Sans"/>
              </a:rPr>
              <a:t>Diagnósticos ICD-9-CM ou ICD-10-CM (SClínico Hospitalar / SIM@SNS).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663440"/>
            <a:ext cx="888796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N.º processo *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675180" y="4663440"/>
            <a:ext cx="888796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N.º episódio *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18841" y="4663440"/>
            <a:ext cx="358444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Data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32150" y="4663440"/>
            <a:ext cx="676656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Versão ICD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4910327"/>
            <a:ext cx="729691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Diagnóstico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516075" y="4910327"/>
            <a:ext cx="994867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ULS de inscrição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565806" y="4910327"/>
            <a:ext cx="835761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N.º episódios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5852159"/>
            <a:ext cx="3236976" cy="1645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Manual BI-ER, pp. 6–7 e 22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15968" y="4005072"/>
            <a:ext cx="3566160" cy="206654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480559" y="4096511"/>
            <a:ext cx="32369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D37A22"/>
                </a:solidFill>
                <a:latin typeface="Bricolage Grotesque"/>
              </a:rPr>
              <a:t>Consultas externas hospitalares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59" y="4389120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66662"/>
                </a:solidFill>
                <a:latin typeface="Work Sans"/>
              </a:rPr>
              <a:t>Como as urgências, mais o tipo de consulta.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80559" y="4663440"/>
            <a:ext cx="888796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N.º processo *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24220" y="4663440"/>
            <a:ext cx="888796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N.º episódio *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367881" y="4663440"/>
            <a:ext cx="358444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Data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80559" y="4910327"/>
            <a:ext cx="994867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Tipo de consulta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530291" y="4910327"/>
            <a:ext cx="676656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Versão ICD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61811" y="4910327"/>
            <a:ext cx="729691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Diagnóstico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480559" y="5157215"/>
            <a:ext cx="994867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ULS de inscrição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530291" y="5157215"/>
            <a:ext cx="835761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N.º episódios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80559" y="5852159"/>
            <a:ext cx="3236976" cy="1645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Manual BI-ER, pp. 6–7 e 23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65007" y="4005072"/>
            <a:ext cx="3566160" cy="206654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29599" y="4096511"/>
            <a:ext cx="3236976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2332E"/>
                </a:solidFill>
                <a:latin typeface="Bricolage Grotesque"/>
              </a:rPr>
              <a:t>Custos por âmbito (€ / utente / ano)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29599" y="4389120"/>
            <a:ext cx="323697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566662"/>
                </a:solidFill>
                <a:latin typeface="Work Sans"/>
              </a:rPr>
              <a:t>Preços como proxy do custo: tabelas e circulares da ACSS, PVP dos medicamentos, preço convencionado dos MCDT.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229599" y="4663440"/>
            <a:ext cx="835761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Consultas CSP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120225" y="4663440"/>
            <a:ext cx="835761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Internamentos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229599" y="4910327"/>
            <a:ext cx="1472184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Ambulatórios hospitalares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756647" y="4910327"/>
            <a:ext cx="623620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Urgências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29599" y="5157215"/>
            <a:ext cx="1100937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Consultas externas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385401" y="5157215"/>
            <a:ext cx="358444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MCDT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798710" y="5157215"/>
            <a:ext cx="782726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Medicamentos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636300" y="5157215"/>
            <a:ext cx="411480" cy="192024"/>
          </a:xfrm>
          <a:prstGeom prst="roundRect">
            <a:avLst>
              <a:gd name="adj" fmla="val 40000"/>
            </a:avLst>
          </a:prstGeom>
          <a:solidFill>
            <a:srgbClr val="E0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45720" tIns="0" rIns="45720" bIns="0" rtlCol="0" anchor="ctr"/>
          <a:lstStyle/>
          <a:p>
            <a:pPr algn="ctr"/>
            <a:r>
              <a:rPr sz="750">
                <a:solidFill>
                  <a:srgbClr val="12332E"/>
                </a:solidFill>
                <a:latin typeface="Work Sans"/>
              </a:rPr>
              <a:t>Total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599" y="5852159"/>
            <a:ext cx="3236976" cy="164592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650" b="0">
                <a:solidFill>
                  <a:srgbClr val="566662"/>
                </a:solidFill>
                <a:latin typeface="Work Sans"/>
              </a:rPr>
              <a:t>Manual BI-ER, pp. 7–8 e 23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6144768"/>
            <a:ext cx="11064240" cy="107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700" b="0" dirty="0">
                <a:solidFill>
                  <a:srgbClr val="566662"/>
                </a:solidFill>
                <a:latin typeface="Work Sans"/>
              </a:rPr>
              <a:t>* Só </a:t>
            </a:r>
            <a:r>
              <a:rPr sz="700" b="0" dirty="0" err="1">
                <a:solidFill>
                  <a:srgbClr val="566662"/>
                </a:solidFill>
                <a:latin typeface="Work Sans"/>
              </a:rPr>
              <a:t>disponíveis</a:t>
            </a:r>
            <a:r>
              <a:rPr sz="700" b="0" dirty="0">
                <a:solidFill>
                  <a:srgbClr val="566662"/>
                </a:solidFill>
                <a:latin typeface="Work Sans"/>
              </a:rPr>
              <a:t> quando «ULS de </a:t>
            </a:r>
            <a:r>
              <a:rPr sz="700" b="0" dirty="0" err="1">
                <a:solidFill>
                  <a:srgbClr val="566662"/>
                </a:solidFill>
                <a:latin typeface="Work Sans"/>
              </a:rPr>
              <a:t>inscrição</a:t>
            </a:r>
            <a:r>
              <a:rPr sz="700" b="0" dirty="0">
                <a:solidFill>
                  <a:srgbClr val="566662"/>
                </a:solidFill>
                <a:latin typeface="Work Sans"/>
              </a:rPr>
              <a:t>» </a:t>
            </a:r>
            <a:r>
              <a:rPr lang="en-US" sz="700" b="0" dirty="0">
                <a:solidFill>
                  <a:srgbClr val="566662"/>
                </a:solidFill>
                <a:latin typeface="Work Sans"/>
              </a:rPr>
              <a:t>ou seja, </a:t>
            </a:r>
            <a:r>
              <a:rPr sz="700" b="0" dirty="0">
                <a:solidFill>
                  <a:srgbClr val="566662"/>
                </a:solidFill>
                <a:latin typeface="Work Sans"/>
              </a:rPr>
              <a:t>quando a ULS de </a:t>
            </a:r>
            <a:r>
              <a:rPr sz="700" b="0" dirty="0" err="1">
                <a:solidFill>
                  <a:srgbClr val="566662"/>
                </a:solidFill>
                <a:latin typeface="Work Sans"/>
              </a:rPr>
              <a:t>inscrição</a:t>
            </a:r>
            <a:r>
              <a:rPr sz="700" b="0" dirty="0">
                <a:solidFill>
                  <a:srgbClr val="566662"/>
                </a:solidFill>
                <a:latin typeface="Work Sans"/>
              </a:rPr>
              <a:t> é a ULS do </a:t>
            </a:r>
            <a:r>
              <a:rPr sz="700" b="0" dirty="0" err="1">
                <a:solidFill>
                  <a:srgbClr val="566662"/>
                </a:solidFill>
                <a:latin typeface="Work Sans"/>
              </a:rPr>
              <a:t>episódio</a:t>
            </a:r>
            <a:r>
              <a:rPr sz="700" b="0" dirty="0">
                <a:solidFill>
                  <a:srgbClr val="566662"/>
                </a:solidFill>
                <a:latin typeface="Work Sans"/>
              </a:rPr>
              <a:t> (manual BI-ER, p. 23).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tratificacao pelo Risco">
      <a:dk1>
        <a:srgbClr val="12332E"/>
      </a:dk1>
      <a:lt1>
        <a:srgbClr val="FFFFFF"/>
      </a:lt1>
      <a:dk2>
        <a:srgbClr val="566662"/>
      </a:dk2>
      <a:lt2>
        <a:srgbClr val="ECF0EE"/>
      </a:lt2>
      <a:accent1>
        <a:srgbClr val="0F7A6B"/>
      </a:accent1>
      <a:accent2>
        <a:srgbClr val="D37A22"/>
      </a:accent2>
      <a:accent3>
        <a:srgbClr val="12332E"/>
      </a:accent3>
      <a:accent4>
        <a:srgbClr val="5FA394"/>
      </a:accent4>
      <a:accent5>
        <a:srgbClr val="E0EEEB"/>
      </a:accent5>
      <a:accent6>
        <a:srgbClr val="D3DDD8"/>
      </a:accent6>
      <a:hlink>
        <a:srgbClr val="0F7A6B"/>
      </a:hlink>
      <a:folHlink>
        <a:srgbClr val="1B5E54"/>
      </a:folHlink>
    </a:clrScheme>
    <a:fontScheme name="Office">
      <a:majorFont>
        <a:latin typeface="Bricolage Grotesq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Work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template-estratificacao-risco</Template>
  <TotalTime>686</TotalTime>
  <Words>5234</Words>
  <Application>Microsoft Office PowerPoint</Application>
  <PresentationFormat>Widescreen</PresentationFormat>
  <Paragraphs>534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Bricolage Grotesque</vt:lpstr>
      <vt:lpstr>IBM Plex Mono</vt:lpstr>
      <vt:lpstr>Instrument Sans</vt:lpstr>
      <vt:lpstr>Wingdings</vt:lpstr>
      <vt:lpstr>Work Sans</vt:lpstr>
      <vt:lpstr>Tema do Office</vt:lpstr>
      <vt:lpstr>Do registo clínico ao indicador por utente</vt:lpstr>
      <vt:lpstr>Estrutura do Workshop</vt:lpstr>
      <vt:lpstr>Enquadramento</vt:lpstr>
      <vt:lpstr>O que é a Estratificação pelo Risco?</vt:lpstr>
      <vt:lpstr>Do episódio à história do doente</vt:lpstr>
      <vt:lpstr>Risco de quê?</vt:lpstr>
      <vt:lpstr>A OMS recomenda a estratificação pelo risco</vt:lpstr>
      <vt:lpstr>A estratificação pelo risco no mundo</vt:lpstr>
      <vt:lpstr>Estratificação pelo Risco no contexto Português</vt:lpstr>
      <vt:lpstr>Do financiamento à capitação ajustada ao risco</vt:lpstr>
      <vt:lpstr>Ideias chave</vt:lpstr>
      <vt:lpstr>PowerPoint Presentation</vt:lpstr>
      <vt:lpstr>Organização da ER em Portugal</vt:lpstr>
      <vt:lpstr>Como está organizada a estratificação pelo risco</vt:lpstr>
      <vt:lpstr>O ILER e a equipa local não são um balcão de dados</vt:lpstr>
      <vt:lpstr>Saúde Pública: a lente populacional da estratificação</vt:lpstr>
      <vt:lpstr>O Processo</vt:lpstr>
      <vt:lpstr>Do registo clínico ao indicador por utente</vt:lpstr>
      <vt:lpstr>PowerPoint Presentation</vt:lpstr>
      <vt:lpstr>Pirâmide de Kaiser na ER: base absoluta, topo relativo</vt:lpstr>
      <vt:lpstr>GRA: o Grupo de Risco Ajustado</vt:lpstr>
      <vt:lpstr>GN e NUR: duas leituras do mesmo utente</vt:lpstr>
      <vt:lpstr>IDRA e financiamento: o paradoxo da prevenção</vt:lpstr>
      <vt:lpstr>BI-ER, análises ad-hoc (1/2): «Base» e «GGD/GD»</vt:lpstr>
      <vt:lpstr>BI-ER, análises ad-hoc (2/2): contactos e custos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Estevão Soares dos Santos</dc:creator>
  <cp:lastModifiedBy>Estevão Soares dos Santos</cp:lastModifiedBy>
  <cp:revision>18</cp:revision>
  <dcterms:created xsi:type="dcterms:W3CDTF">2026-09-29T08:55:03Z</dcterms:created>
  <dcterms:modified xsi:type="dcterms:W3CDTF">2026-10-01T05:01:06Z</dcterms:modified>
</cp:coreProperties>
</file>